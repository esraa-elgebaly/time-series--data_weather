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asks a simple question: can we forecast tomorrow’s weather in Cairo? The picture on the right is the whole dataset at once: every day since 1990, one row per year, coloured from blue for cool days to dark red for hot days. I split the question into two targets. The first is a number: tomorrow’s mean temperature in degrees. The second is a yes or no: will it rain tomorrow, where a rain day means at least 1 millimetre. Before building any model, I spent this phase understanding the data, because what we learn here decides which features, which years and which metrics the model will use. In the next ten minutes I’ll show the data, two problems hidden in it, the main patterns, and the number a model has to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comes from the NASA POWER API. I chose it for three reasons: it is free with no API key, it has one consistent daily record going back to 1981, and a single call returns everything, so the whole analysis can be repeated. I pulled 36 full years, 1990 to 2025, for central Cairo: 13,149 days and 8 variables, mean, max and min temperature, rain, humidity, wind speed, wind direction and pressure, all already in metric units. Figure 2 is the pipeline I follow. One request collects the data. The raw response is saved exactly as received and never changed. Cleaning turns wrong values into empty cells but never drops a row. Then the exploration, with six hypotheses, and finally a time-based split and simple baselines that any model must beat. One honest limitation: this is model data averaged over about a 50 by 50 kilometre grid, not a weather station, so extremes may look a little milder.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looking at the patterns, these are the six questions I set out to answer. Two are about temperature trends: is Cairo warming, with nights faster than days, and are very hot days becoming more common. One is the key question of this project, H3: did heavy rain really increase after 2016, or did the data itself change? Then cold waves, whether storms give warning signs in the days before them, and whether Khamasin-like days, the hot, dry desert wind days, can be detected in the data. Each one has a clear answer later in the talk, and the slide number is on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first the data looked clean. Every day from 1990 to 2025 is there and nothing is duplicated. NASA writes minus 999 for a missing value, so I turned those codes into empty cells before counting anything. All the basic checks passed: no negative rain, no min temperature above the max, humidity always between 0 and 100. But plotting every variable over time showed two problems. First, wind direction, in figure 4a: from 2013 every value is below zero, down to minus 9000, and an angle must be between 0 and 360. Thirteen years going wrong at once points to the data, not the weather. That is 36 percent of the column. I left those days empty instead of inventing values, so wind direction is only valid until 2012. Second, rain, in figure 4b: before 2016 no single day reaches 13 millimetres, and after 2016 many days pass 20. I kept the rain, but treated this jump as a hypothesis to test, and I’ll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Cairo’s climate in one figure. Panel A is the average year: the mean temperature goes from about 12 degrees in January to 30 in July and August, a seasonal swing of about 19 degrees that repeats every year. Panel B breaks the max temperature down by month and decade: the 2020s have the hottest summers, with July averaging 39.4 degrees. Panel C shows when it rains: almost only from October to April, with Mediterranean storms in the cool months, and rain days go up in every month after 2016, which is the jump I will test later. Panel D shows that hotter days are drier, so humidity moves the opposite way to temperature. The decision for the model: the calendar is the most important input, so I give it the day of the year as sine and cosine, which keeps December 31st and January 1st close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first hypothesis was: is Cairo getting warmer, and are nights warming faster than days? In figure 6a I took the yearly average of the daily max, which stands for the days, and of the daily min, which stands for the nights, and fitted a straight line through each. Nights warm by 0.41 degrees per decade, days by 0.23. So yes, Cairo is warming, and nights almost twice as fast. A likely reason is city heat at night on top of regional warming, but this data can’t separate the two. Figure 6b shows the same story differently: each day compared with the normal for its date. The 1990s are mostly blue, colder than normal, and recent years are mostly red. Compared with the 19-degree season this trend is small, but it matters: the test years, 2023 to 2025, are among the warmest, so I will check whether the model forecasts them too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two hypotheses look at the extremes. A very hot day is hotter than 95 percent of all days, which here means a max above 40.1 degrees. In figure 7a the count jumps around a lot, from 7 in 2013 to 38 in 2024, and the two highest years are 2023 and 2024. So for H2, are very hot days becoming more frequent, my answer is: partly. Recent years are the most extreme, but I would need more years to call it a trend. On the other side, a very cold night is colder than 95 percent of all nights, below 5.7 degrees. In figure 7b they fall from 20.4 a year in the 1990s to 15.5 in the 2020s, about two fewer per decade, which fits the nights warming faster that we saw in H1. The coldest years were 1992 and 1993, which may also reflect the global cooling after the 1991 Pinatubo eruption. So H4 is yes, slowly, but strong cold years like 2022 still happen. For the model, this means checking heat-wave errors separately on the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finding. Figure 8a shows total rain per year, and at 2016 it jumps. Rain days per year go from 8.1 to 17.6, heavy rain days from almost none to 3.8 a year, and total rain grows 4.6 times, to 142 millimetres a year. So did Cairo really get wetter? I don’t think so, for three reasons. First, the change is sudden: it happens at one year, while a real climate change would build up slowly. Second, 142 millimetres a year is unrealistic for Cairo, where the normal is about 20 to 25. Third, and this is the strongest check: I built a storm score from signs that stay consistent across all 36 years, a pressure drop, strong wind, a temperature drop and high humidity. In figure 8b the strongest storm each year stays at the same level before and after 2016, while the biggest rain day jumps from 5.5 to 36.6 millimetres on average. Storms did not get stronger; only the rain number changed. So my answer to H3 is: most likely a change in how the data is produced, not in the weather. That is why every rain analysis and the rain model use 2016 to 2025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see how much of temperature is just the calendar, I decomposed the series into trend, season and residual, with a 365-day period. Figure 9a is the additive version. The seasonal part swings 19.1 degrees, the trend moves only 2.8 degrees over 36 years, and what is left, the residual, is about 2.2 degrees a day. The multiplicative version gave the same picture, because the yearly swing does not grow over time, so I use the additive form. Figure 9b zooms into 2018 to 2020: the red line, trend plus season, already follows the real temperature closely. Then the stationarity test: the ADF test says the raw series, the series without the season, and the daily changes are all stationary, with p below 0.001. Temperature always comes back to its normal level and does not drift. So no differencing is needed, but the season must still be modeled. The model’s real job is the 2.2 degrees left over, and it has to learn that from recent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Autocorrelation tells us how strongly today is linked with past days, and that decides the model’s inputs. Panel A is the raw temperature over 400 days: 0.97 with yesterday, minus 0.86 at six months and plus 0.86 at one year. That wave is just the season again. When I remove the season, today’s link with tomorrow is still 0.77, while a week ago drops to 0.13 and a year ago is about zero. Panels B and C use the daily change, so the season can’t hide anything: only the last five days or so carry information, and after that the bars sit inside the noise band. Panel D is for rain: after a rain day, rain tomorrow is 39 percent likely, against 5 percent normally, because weather systems last a few days. So the features are the last one to five days and short rolling means. A one-year lag adds nothing, so I drop it. And for rain, whether it rained today is the strongest single clue.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rain amounts aren’t consistent across the years, I compared storms using signs that are: a drop in pressure from yesterday, strong wind, a drop in max temperature, and high humidity. Each sign gives every day a rank from 0 to 1, and the storm score is their average. Figure 11a shows the ten strongest storms in 36 years. Seven of them are before 2016, and most brought little rain, under 10 millimetres. The exception is the 12th of March 2020, with 48.5 millimetres. Figure 11b puts two storms side by side, seven days before and after: the strongest storm before 2016, in March 1991, and the March 2020 storm. Both follow the same steps: pressure falls, humidity rises and temperature drops. But the 2020 storm gives about five times more rain, and pressure reached its lowest value in all 36 years. This supports H3 again: the storms look alike, only the rain number is different. It also tells us that pressure and humidity changes are useful rain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two hypotheses. H5 asks whether storms have a signature in the days before them. I measured each sign as standard deviations from the normal for its date, and lined up every event as day zero. Heat waves and cold snaps build up over several days, so they do give a warning. Storms don’t: figure 12a shows the correlation between each sign, one to seven days before, and a storm starting, and every value is tiny, between minus 0.06 and plus 0.05. So H5 is partly true, and I expect the rain model to miss many storms. H6 asks whether Khamasin-like days can be detected. I defined them from the data, not officially: a south wind, max temperature at least 1.5 standard deviations above normal, and humidity at least 1.5 below. That finds 125 days between 1990 and 2012, mostly from December to April, a wider season than the usual March to May, and on average they are much hotter, much drier and lower in pressure. The limit is that wind direction stops in 2012, so this can’t be used as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bridge from the analysis to the model: every finding becomes one decision. The strong, fixed season becomes the day of year as sine and cosine. Because temperature always returns to its level, no differencing. Because only the last few days help, the inputs are lags one to five, and no one-year lag. Because the test years are the warmest, I will watch for a cold bias. Spring is the most unstable season, with the biggest day-to-day jumps, so I will report errors by month, not only as one number. Humidity and pressure, as differences from normal, are useful inputs. Rain is rare and its data changed in 2016, so rain is a yes or no task on 2016 to 2025 only, judged by F1 and CSI, not accuracy. Wind direction stops in 2012, so it is not used. And the outliers and extreme days are real weather, so they stay in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training any model, I need to know what “good” means, so I scored simple forecasts that learn nothing. The data is split by time, never at random: train 1990 to 2019, validation 2020 to 2022, test 2023 to 2025, so a model never sees the future. Figure 14 shows the temperature baselines. The winner is persistence, tomorrow equals today, with a typical error of 1.07 degrees on validation and 1.04 on test, so about 1.05. It beats the 7-day mean, the normal for the date, and especially the same day last year. That is the number a model must beat. For rain, accuracy is misleading: always predicting no rain is 94 to 96 percent accurate but catches zero rain days. So I use hits, misses, F1 and CSI. Persistence again wins, with F1 0.36 on validation and 0.47 on test. Next, I will pull the same variables from Open-Meteo so training and live data come from one source, build the features we found, try Ridge, gradient boosting and SARIMAX for temperature and logistic regression for rain, validate walk-forward, and deploy only if a model clearly beats these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calendar and yesterday carry most of the signal. The season dominates, with a 19-degree swing, and on top of it Cairo is slowly warming, nights faster than days. Temperature has a short memory: only the last five days or so help, and the series is stationary. Rain is rare, under 3 percent of days, falls from October to April and comes in groups. The 2016 jump in rain is most likely a change in the data, not in the weather. And any model has to beat 1.05 degrees for temperature and persistence for rain. Three limitations to keep in mind: this is model data on a 50-kilometre grid, not a station, so extremes look milder; rain is only usable from 2016, and the test period has just 43 rain days, so rain scores will be shaky; and wind direction is only valid until 2012.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EEE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2"/>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B2733"/>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2"/>
            <a:ext cx="10566400" cy="4165598"/>
          </a:xfrm>
          <a:prstGeom prst="rect">
            <a:avLst/>
          </a:prstGeom>
          <a:noFill/>
          <a:ln/>
        </p:spPr>
        <p:txBody>
          <a:bodyPr wrap="square" lIns="0" tIns="0" rIns="0" bIns="0" rtlCol="0" anchor="t"/>
          <a:lstStyle>
            <a:lvl1pPr algn="l" indent="0" marL="0">
              <a:lnSpc>
                <a:spcPct val="140000"/>
              </a:lnSpc>
              <a:buNone/>
              <a:defRPr lang="en-US" sz="1600" dirty="0">
                <a:solidFill>
                  <a:srgbClr val="1B27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EEE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2"/>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B2733"/>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2"/>
            <a:ext cx="10566400" cy="4165598"/>
          </a:xfrm>
          <a:prstGeom prst="rect">
            <a:avLst/>
          </a:prstGeom>
          <a:noFill/>
          <a:ln/>
        </p:spPr>
        <p:txBody>
          <a:bodyPr wrap="square" lIns="0" tIns="0" rIns="0" bIns="0" rtlCol="0" anchor="t"/>
          <a:lstStyle>
            <a:lvl1pPr algn="l" indent="0" marL="0">
              <a:lnSpc>
                <a:spcPct val="140000"/>
              </a:lnSpc>
              <a:buNone/>
              <a:defRPr lang="en-US" sz="1600" dirty="0">
                <a:solidFill>
                  <a:srgbClr val="1B27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63A"/>
        </a:solidFill>
      </p:bgPr>
    </p:bg>
    <p:spTree>
      <p:nvGrpSpPr>
        <p:cNvPr id="1" name=""/>
        <p:cNvGrpSpPr/>
        <p:nvPr/>
      </p:nvGrpSpPr>
      <p:grpSpPr>
        <a:xfrm>
          <a:off x="0" y="0"/>
          <a:ext cx="0" cy="0"/>
          <a:chOff x="0" y="0"/>
          <a:chExt cx="0" cy="0"/>
        </a:xfrm>
      </p:grpSpPr>
      <p:pic>
        <p:nvPicPr>
          <p:cNvPr id="2" name="Image 0" descr="Heat stripes: every day from 1990 to 2025, one row per year, colored by max temperature from blue (cool winters) to dark red (hot summers)">    </p:cNvPr>
          <p:cNvPicPr>
            <a:picLocks noChangeAspect="1"/>
          </p:cNvPicPr>
          <p:nvPr/>
        </p:nvPicPr>
        <p:blipFill>
          <a:blip r:embed="rId1"/>
          <a:srcRect l="18944" r="18944" t="0" b="0"/>
          <a:stretch/>
        </p:blipFill>
        <p:spPr>
          <a:xfrm>
            <a:off x="7493000" y="0"/>
            <a:ext cx="4699000" cy="6858000"/>
          </a:xfrm>
          <a:prstGeom prst="rect">
            <a:avLst/>
          </a:prstGeom>
        </p:spPr>
      </p:pic>
      <p:sp>
        <p:nvSpPr>
          <p:cNvPr id="3" name="Shape 0"/>
          <p:cNvSpPr/>
          <p:nvPr/>
        </p:nvSpPr>
        <p:spPr>
          <a:xfrm>
            <a:off x="7493000" y="0"/>
            <a:ext cx="1397000" cy="6858000"/>
          </a:xfrm>
          <a:prstGeom prst="rect">
            <a:avLst/>
          </a:prstGeom>
          <a:gradFill rotWithShape="1">
            <a:gsLst>
              <a:gs pos="0">
                <a:srgbClr val="14263A"/>
              </a:gs>
              <a:gs pos="100000">
                <a:srgbClr val="14263A">
                  <a:alpha val="0"/>
                </a:srgbClr>
              </a:gs>
            </a:gsLst>
            <a:lin ang="0" scaled="0"/>
          </a:gradFill>
          <a:ln/>
        </p:spPr>
      </p:sp>
      <p:sp>
        <p:nvSpPr>
          <p:cNvPr id="4" name="Text 1"/>
          <p:cNvSpPr/>
          <p:nvPr/>
        </p:nvSpPr>
        <p:spPr>
          <a:xfrm>
            <a:off x="812800" y="812800"/>
            <a:ext cx="640969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CAIRO · 1990–2025 · TIME-SERIES EDA</a:t>
            </a:r>
            <a:endParaRPr lang="en-US" sz="1200" dirty="0"/>
          </a:p>
        </p:txBody>
      </p:sp>
      <p:sp>
        <p:nvSpPr>
          <p:cNvPr id="5" name="Text 2"/>
          <p:cNvSpPr/>
          <p:nvPr>
            <p:ph type="title"/>
          </p:nvPr>
        </p:nvSpPr>
        <p:spPr>
          <a:xfrm>
            <a:off x="812800" y="1203960"/>
            <a:ext cx="6409690" cy="194564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4EEE3"/>
                </a:solidFill>
                <a:latin typeface="Source Serif 4" pitchFamily="18" charset="0"/>
                <a:ea typeface="Source Serif 4" pitchFamily="18" charset="-122"/>
                <a:cs typeface="Source Serif 4" pitchFamily="18" charset="-120"/>
              </a:rPr>
              <a:t>Can we forecast tomorrow’s weather in Cairo?</a:t>
            </a:r>
            <a:endParaRPr lang="en-US" sz="4800" dirty="0"/>
          </a:p>
        </p:txBody>
      </p:sp>
      <p:sp>
        <p:nvSpPr>
          <p:cNvPr id="6" name="Text 3"/>
          <p:cNvSpPr/>
          <p:nvPr/>
        </p:nvSpPr>
        <p:spPr>
          <a:xfrm>
            <a:off x="812800" y="3302000"/>
            <a:ext cx="640969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D8"/>
                </a:solidFill>
                <a:latin typeface="IBM Plex Sans" pitchFamily="34" charset="0"/>
                <a:ea typeface="IBM Plex Sans" pitchFamily="34" charset="-122"/>
                <a:cs typeface="IBM Plex Sans" pitchFamily="34" charset="-120"/>
              </a:rPr>
              <a:t>36 years of daily NASA data, explored to answer two questions about tomorrow.</a:t>
            </a:r>
            <a:endParaRPr lang="en-US" sz="1400" dirty="0"/>
          </a:p>
        </p:txBody>
      </p:sp>
      <p:sp>
        <p:nvSpPr>
          <p:cNvPr id="7" name="Shape 4"/>
          <p:cNvSpPr/>
          <p:nvPr/>
        </p:nvSpPr>
        <p:spPr>
          <a:xfrm>
            <a:off x="812800" y="4217670"/>
            <a:ext cx="3035300" cy="1196340"/>
          </a:xfrm>
          <a:prstGeom prst="roundRect">
            <a:avLst>
              <a:gd name="adj" fmla="val 7431"/>
            </a:avLst>
          </a:prstGeom>
          <a:solidFill>
            <a:srgbClr val="1E3550"/>
          </a:solidFill>
          <a:ln/>
        </p:spPr>
      </p:sp>
      <p:sp>
        <p:nvSpPr>
          <p:cNvPr id="8" name="Shape 5"/>
          <p:cNvSpPr/>
          <p:nvPr/>
        </p:nvSpPr>
        <p:spPr>
          <a:xfrm>
            <a:off x="812800" y="4217670"/>
            <a:ext cx="3035300" cy="1196340"/>
          </a:xfrm>
          <a:custGeom>
            <a:avLst/>
            <a:gdLst/>
            <a:ahLst/>
            <a:cxnLst/>
            <a:rect l="l" t="t" r="r" b="b"/>
            <a:pathLst>
              <a:path w="3035300" h="1196340">
                <a:moveTo>
                  <a:pt x="0" y="88900"/>
                </a:moveTo>
                <a:lnTo>
                  <a:pt x="0" y="88900"/>
                </a:lnTo>
                <a:arcTo hR="88900" wR="88900" stAng="10800000" swAng="5400000"/>
                <a:lnTo>
                  <a:pt x="2946400" y="0"/>
                </a:lnTo>
                <a:arcTo hR="88900" wR="88900" stAng="16200000" swAng="5400000"/>
                <a:lnTo>
                  <a:pt x="3035300" y="88900"/>
                </a:lnTo>
                <a:arcTo hR="50800" wR="88900" stAng="0" swAng="-5400000"/>
                <a:lnTo>
                  <a:pt x="88900" y="38100"/>
                </a:lnTo>
                <a:arcTo hR="50800" wR="88900" stAng="16200000" swAng="-5400000"/>
                <a:close/>
              </a:path>
            </a:pathLst>
          </a:custGeom>
          <a:solidFill>
            <a:srgbClr val="F2945E"/>
          </a:solidFill>
          <a:ln/>
        </p:spPr>
      </p:sp>
      <p:sp>
        <p:nvSpPr>
          <p:cNvPr id="9" name="Text 6"/>
          <p:cNvSpPr/>
          <p:nvPr/>
        </p:nvSpPr>
        <p:spPr>
          <a:xfrm>
            <a:off x="1016000" y="4431030"/>
            <a:ext cx="270776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45E"/>
                </a:solidFill>
                <a:latin typeface="IBM Plex Sans" pitchFamily="34" charset="0"/>
                <a:ea typeface="IBM Plex Sans" pitchFamily="34" charset="-122"/>
                <a:cs typeface="IBM Plex Sans" pitchFamily="34" charset="-120"/>
              </a:rPr>
              <a:t>TARGET 1 · REGRESSION</a:t>
            </a:r>
            <a:endParaRPr lang="en-US" sz="1200" dirty="0"/>
          </a:p>
        </p:txBody>
      </p:sp>
      <p:sp>
        <p:nvSpPr>
          <p:cNvPr id="10" name="Text 7"/>
          <p:cNvSpPr/>
          <p:nvPr/>
        </p:nvSpPr>
        <p:spPr>
          <a:xfrm>
            <a:off x="1016000" y="4707890"/>
            <a:ext cx="2707767" cy="5537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F4EEE3"/>
                </a:solidFill>
                <a:latin typeface="IBM Plex Sans" pitchFamily="34" charset="0"/>
                <a:ea typeface="IBM Plex Sans" pitchFamily="34" charset="-122"/>
                <a:cs typeface="IBM Plex Sans" pitchFamily="34" charset="-120"/>
              </a:rPr>
              <a:t>Tomorrow’s mean temperature (°C)</a:t>
            </a:r>
            <a:endParaRPr lang="en-US" sz="1600" dirty="0"/>
          </a:p>
        </p:txBody>
      </p:sp>
      <p:sp>
        <p:nvSpPr>
          <p:cNvPr id="11" name="Shape 8"/>
          <p:cNvSpPr/>
          <p:nvPr/>
        </p:nvSpPr>
        <p:spPr>
          <a:xfrm>
            <a:off x="4000500" y="4217670"/>
            <a:ext cx="3035300" cy="1196340"/>
          </a:xfrm>
          <a:prstGeom prst="roundRect">
            <a:avLst>
              <a:gd name="adj" fmla="val 7431"/>
            </a:avLst>
          </a:prstGeom>
          <a:solidFill>
            <a:srgbClr val="1E3550"/>
          </a:solidFill>
          <a:ln/>
        </p:spPr>
      </p:sp>
      <p:sp>
        <p:nvSpPr>
          <p:cNvPr id="12" name="Shape 9"/>
          <p:cNvSpPr/>
          <p:nvPr/>
        </p:nvSpPr>
        <p:spPr>
          <a:xfrm>
            <a:off x="4000500" y="4217670"/>
            <a:ext cx="3035300" cy="1196340"/>
          </a:xfrm>
          <a:custGeom>
            <a:avLst/>
            <a:gdLst/>
            <a:ahLst/>
            <a:cxnLst/>
            <a:rect l="l" t="t" r="r" b="b"/>
            <a:pathLst>
              <a:path w="3035300" h="1196340">
                <a:moveTo>
                  <a:pt x="0" y="88900"/>
                </a:moveTo>
                <a:lnTo>
                  <a:pt x="0" y="88900"/>
                </a:lnTo>
                <a:arcTo hR="88900" wR="88900" stAng="10800000" swAng="5400000"/>
                <a:lnTo>
                  <a:pt x="2946400" y="0"/>
                </a:lnTo>
                <a:arcTo hR="88900" wR="88900" stAng="16200000" swAng="5400000"/>
                <a:lnTo>
                  <a:pt x="3035300" y="88900"/>
                </a:lnTo>
                <a:arcTo hR="50800" wR="88900" stAng="0" swAng="-5400000"/>
                <a:lnTo>
                  <a:pt x="88900" y="38100"/>
                </a:lnTo>
                <a:arcTo hR="50800" wR="88900" stAng="16200000" swAng="-5400000"/>
                <a:close/>
              </a:path>
            </a:pathLst>
          </a:custGeom>
          <a:solidFill>
            <a:srgbClr val="8DB8F2"/>
          </a:solidFill>
          <a:ln/>
        </p:spPr>
      </p:sp>
      <p:sp>
        <p:nvSpPr>
          <p:cNvPr id="13" name="Text 10"/>
          <p:cNvSpPr/>
          <p:nvPr/>
        </p:nvSpPr>
        <p:spPr>
          <a:xfrm>
            <a:off x="4203700" y="4431030"/>
            <a:ext cx="270776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DB8F2"/>
                </a:solidFill>
                <a:latin typeface="IBM Plex Sans" pitchFamily="34" charset="0"/>
                <a:ea typeface="IBM Plex Sans" pitchFamily="34" charset="-122"/>
                <a:cs typeface="IBM Plex Sans" pitchFamily="34" charset="-120"/>
              </a:rPr>
              <a:t>TARGET 2 · CLASSIFICATION</a:t>
            </a:r>
            <a:endParaRPr lang="en-US" sz="1200" dirty="0"/>
          </a:p>
        </p:txBody>
      </p:sp>
      <p:sp>
        <p:nvSpPr>
          <p:cNvPr id="14" name="Text 11"/>
          <p:cNvSpPr/>
          <p:nvPr/>
        </p:nvSpPr>
        <p:spPr>
          <a:xfrm>
            <a:off x="4203700" y="4707890"/>
            <a:ext cx="2707767" cy="5537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F4EEE3"/>
                </a:solidFill>
                <a:latin typeface="IBM Plex Sans" pitchFamily="34" charset="0"/>
                <a:ea typeface="IBM Plex Sans" pitchFamily="34" charset="-122"/>
                <a:cs typeface="IBM Plex Sans" pitchFamily="34" charset="-120"/>
              </a:rPr>
              <a:t>Rain tomorrow? (≥ 1 mm, yes / no)</a:t>
            </a:r>
            <a:endParaRPr lang="en-US" sz="1600" dirty="0"/>
          </a:p>
        </p:txBody>
      </p:sp>
      <p:sp>
        <p:nvSpPr>
          <p:cNvPr id="15" name="Text 12"/>
          <p:cNvSpPr/>
          <p:nvPr/>
        </p:nvSpPr>
        <p:spPr>
          <a:xfrm>
            <a:off x="812800" y="5831840"/>
            <a:ext cx="244542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EEE3"/>
                </a:solidFill>
                <a:latin typeface="IBM Plex Sans" pitchFamily="34" charset="0"/>
                <a:ea typeface="IBM Plex Sans" pitchFamily="34" charset="-122"/>
                <a:cs typeface="IBM Plex Sans" pitchFamily="34" charset="-120"/>
              </a:rPr>
              <a:t>Esraa</a:t>
            </a:r>
            <a:r>
              <a:rPr lang="en-US" sz="1200" dirty="0">
                <a:solidFill>
                  <a:srgbClr val="F4EEE3"/>
                </a:solidFill>
                <a:latin typeface="IBM Plex Sans" pitchFamily="34" charset="0"/>
                <a:ea typeface="IBM Plex Sans" pitchFamily="34" charset="-122"/>
                <a:cs typeface="IBM Plex Sans" pitchFamily="34" charset="-120"/>
              </a:rPr>
              <a:t> · Cairo weather prediction</a:t>
            </a:r>
            <a:endParaRPr lang="en-US" sz="1200" dirty="0"/>
          </a:p>
        </p:txBody>
      </p:sp>
      <p:sp>
        <p:nvSpPr>
          <p:cNvPr id="16" name="Text 13"/>
          <p:cNvSpPr/>
          <p:nvPr/>
        </p:nvSpPr>
        <p:spPr>
          <a:xfrm>
            <a:off x="3258225" y="5831840"/>
            <a:ext cx="3777575"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CBD8"/>
                </a:solidFill>
                <a:latin typeface="IBM Plex Sans" pitchFamily="34" charset="0"/>
                <a:ea typeface="IBM Plex Sans" pitchFamily="34" charset="-122"/>
                <a:cs typeface="IBM Plex Sans" pitchFamily="34" charset="-120"/>
              </a:rPr>
              <a:t>Right: every day since 1990, by max temperature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THE DATA</a:t>
            </a:r>
            <a:endParaRPr lang="en-US" sz="1200" dirty="0"/>
          </a:p>
        </p:txBody>
      </p:sp>
      <p:sp>
        <p:nvSpPr>
          <p:cNvPr id="3" name="Text 1"/>
          <p:cNvSpPr/>
          <p:nvPr>
            <p:ph type="title"/>
          </p:nvPr>
        </p:nvSpPr>
        <p:spPr>
          <a:xfrm>
            <a:off x="812800" y="11277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36 years of daily data from one free API</a:t>
            </a:r>
            <a:endParaRPr lang="en-US" sz="3200" dirty="0"/>
          </a:p>
        </p:txBody>
      </p:sp>
      <p:sp>
        <p:nvSpPr>
          <p:cNvPr id="4" name="Shape 2"/>
          <p:cNvSpPr/>
          <p:nvPr/>
        </p:nvSpPr>
        <p:spPr>
          <a:xfrm>
            <a:off x="815975" y="1831975"/>
            <a:ext cx="2540000" cy="943610"/>
          </a:xfrm>
          <a:prstGeom prst="roundRect">
            <a:avLst>
              <a:gd name="adj" fmla="val 7739"/>
            </a:avLst>
          </a:prstGeom>
          <a:solidFill>
            <a:srgbClr val="FFFDF8"/>
          </a:solidFill>
          <a:ln w="6350">
            <a:solidFill>
              <a:srgbClr val="E3DACB"/>
            </a:solidFill>
            <a:prstDash val="solid"/>
          </a:ln>
        </p:spPr>
      </p:sp>
      <p:sp>
        <p:nvSpPr>
          <p:cNvPr id="5" name="Text 3"/>
          <p:cNvSpPr/>
          <p:nvPr/>
        </p:nvSpPr>
        <p:spPr>
          <a:xfrm>
            <a:off x="995680" y="1960880"/>
            <a:ext cx="2246008"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63A"/>
                </a:solidFill>
                <a:latin typeface="Source Serif 4" pitchFamily="18" charset="0"/>
                <a:ea typeface="Source Serif 4" pitchFamily="18" charset="-122"/>
                <a:cs typeface="Source Serif 4" pitchFamily="18" charset="-120"/>
              </a:rPr>
              <a:t>36</a:t>
            </a:r>
            <a:endParaRPr lang="en-US" sz="3200" dirty="0"/>
          </a:p>
        </p:txBody>
      </p:sp>
      <p:sp>
        <p:nvSpPr>
          <p:cNvPr id="6" name="Text 4"/>
          <p:cNvSpPr/>
          <p:nvPr/>
        </p:nvSpPr>
        <p:spPr>
          <a:xfrm>
            <a:off x="995680" y="2433320"/>
            <a:ext cx="2246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years, 1990–2025</a:t>
            </a:r>
            <a:endParaRPr lang="en-US" sz="1200" dirty="0"/>
          </a:p>
        </p:txBody>
      </p:sp>
      <p:sp>
        <p:nvSpPr>
          <p:cNvPr id="7" name="Shape 5"/>
          <p:cNvSpPr/>
          <p:nvPr/>
        </p:nvSpPr>
        <p:spPr>
          <a:xfrm>
            <a:off x="3489325" y="1831975"/>
            <a:ext cx="2540000" cy="943610"/>
          </a:xfrm>
          <a:prstGeom prst="roundRect">
            <a:avLst>
              <a:gd name="adj" fmla="val 7739"/>
            </a:avLst>
          </a:prstGeom>
          <a:solidFill>
            <a:srgbClr val="FFFDF8"/>
          </a:solidFill>
          <a:ln w="6350">
            <a:solidFill>
              <a:srgbClr val="E3DACB"/>
            </a:solidFill>
            <a:prstDash val="solid"/>
          </a:ln>
        </p:spPr>
      </p:sp>
      <p:sp>
        <p:nvSpPr>
          <p:cNvPr id="8" name="Text 6"/>
          <p:cNvSpPr/>
          <p:nvPr/>
        </p:nvSpPr>
        <p:spPr>
          <a:xfrm>
            <a:off x="3669030" y="1960880"/>
            <a:ext cx="2246008"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63A"/>
                </a:solidFill>
                <a:latin typeface="Source Serif 4" pitchFamily="18" charset="0"/>
                <a:ea typeface="Source Serif 4" pitchFamily="18" charset="-122"/>
                <a:cs typeface="Source Serif 4" pitchFamily="18" charset="-120"/>
              </a:rPr>
              <a:t>13,149</a:t>
            </a:r>
            <a:endParaRPr lang="en-US" sz="3200" dirty="0"/>
          </a:p>
        </p:txBody>
      </p:sp>
      <p:sp>
        <p:nvSpPr>
          <p:cNvPr id="9" name="Text 7"/>
          <p:cNvSpPr/>
          <p:nvPr/>
        </p:nvSpPr>
        <p:spPr>
          <a:xfrm>
            <a:off x="3669030" y="2433320"/>
            <a:ext cx="2246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days, no gaps or duplicates</a:t>
            </a:r>
            <a:endParaRPr lang="en-US" sz="1200" dirty="0"/>
          </a:p>
        </p:txBody>
      </p:sp>
      <p:sp>
        <p:nvSpPr>
          <p:cNvPr id="10" name="Shape 8"/>
          <p:cNvSpPr/>
          <p:nvPr/>
        </p:nvSpPr>
        <p:spPr>
          <a:xfrm>
            <a:off x="6162675" y="1831975"/>
            <a:ext cx="2540000" cy="943610"/>
          </a:xfrm>
          <a:prstGeom prst="roundRect">
            <a:avLst>
              <a:gd name="adj" fmla="val 7739"/>
            </a:avLst>
          </a:prstGeom>
          <a:solidFill>
            <a:srgbClr val="FFFDF8"/>
          </a:solidFill>
          <a:ln w="6350">
            <a:solidFill>
              <a:srgbClr val="E3DACB"/>
            </a:solidFill>
            <a:prstDash val="solid"/>
          </a:ln>
        </p:spPr>
      </p:sp>
      <p:sp>
        <p:nvSpPr>
          <p:cNvPr id="11" name="Text 9"/>
          <p:cNvSpPr/>
          <p:nvPr/>
        </p:nvSpPr>
        <p:spPr>
          <a:xfrm>
            <a:off x="6342380" y="1960880"/>
            <a:ext cx="2246008"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63A"/>
                </a:solidFill>
                <a:latin typeface="Source Serif 4" pitchFamily="18" charset="0"/>
                <a:ea typeface="Source Serif 4" pitchFamily="18" charset="-122"/>
                <a:cs typeface="Source Serif 4" pitchFamily="18" charset="-120"/>
              </a:rPr>
              <a:t>8</a:t>
            </a:r>
            <a:endParaRPr lang="en-US" sz="3200" dirty="0"/>
          </a:p>
        </p:txBody>
      </p:sp>
      <p:sp>
        <p:nvSpPr>
          <p:cNvPr id="12" name="Text 10"/>
          <p:cNvSpPr/>
          <p:nvPr/>
        </p:nvSpPr>
        <p:spPr>
          <a:xfrm>
            <a:off x="6342380" y="2433320"/>
            <a:ext cx="2246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variables, already metric</a:t>
            </a:r>
            <a:endParaRPr lang="en-US" sz="1200" dirty="0"/>
          </a:p>
        </p:txBody>
      </p:sp>
      <p:sp>
        <p:nvSpPr>
          <p:cNvPr id="13" name="Shape 11"/>
          <p:cNvSpPr/>
          <p:nvPr/>
        </p:nvSpPr>
        <p:spPr>
          <a:xfrm>
            <a:off x="8836025" y="1831975"/>
            <a:ext cx="2540000" cy="943610"/>
          </a:xfrm>
          <a:prstGeom prst="roundRect">
            <a:avLst>
              <a:gd name="adj" fmla="val 7739"/>
            </a:avLst>
          </a:prstGeom>
          <a:solidFill>
            <a:srgbClr val="FFFDF8"/>
          </a:solidFill>
          <a:ln w="6350">
            <a:solidFill>
              <a:srgbClr val="E3DACB"/>
            </a:solidFill>
            <a:prstDash val="solid"/>
          </a:ln>
        </p:spPr>
      </p:sp>
      <p:sp>
        <p:nvSpPr>
          <p:cNvPr id="14" name="Text 12"/>
          <p:cNvSpPr/>
          <p:nvPr/>
        </p:nvSpPr>
        <p:spPr>
          <a:xfrm>
            <a:off x="9015730" y="1960880"/>
            <a:ext cx="2246008"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63A"/>
                </a:solidFill>
                <a:latin typeface="Source Serif 4" pitchFamily="18" charset="0"/>
                <a:ea typeface="Source Serif 4" pitchFamily="18" charset="-122"/>
                <a:cs typeface="Source Serif 4" pitchFamily="18" charset="-120"/>
              </a:rPr>
              <a:t>0</a:t>
            </a:r>
            <a:endParaRPr lang="en-US" sz="3200" dirty="0"/>
          </a:p>
        </p:txBody>
      </p:sp>
      <p:sp>
        <p:nvSpPr>
          <p:cNvPr id="15" name="Text 13"/>
          <p:cNvSpPr/>
          <p:nvPr/>
        </p:nvSpPr>
        <p:spPr>
          <a:xfrm>
            <a:off x="9015730" y="2433320"/>
            <a:ext cx="2246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API keys needed</a:t>
            </a:r>
            <a:endParaRPr lang="en-US" sz="1200" dirty="0"/>
          </a:p>
        </p:txBody>
      </p:sp>
      <p:sp>
        <p:nvSpPr>
          <p:cNvPr id="16" name="Shape 14"/>
          <p:cNvSpPr/>
          <p:nvPr/>
        </p:nvSpPr>
        <p:spPr>
          <a:xfrm>
            <a:off x="815975" y="3035935"/>
            <a:ext cx="10560050" cy="1565910"/>
          </a:xfrm>
          <a:prstGeom prst="roundRect">
            <a:avLst>
              <a:gd name="adj" fmla="val 4663"/>
            </a:avLst>
          </a:prstGeom>
          <a:solidFill>
            <a:srgbClr val="FFFFFF"/>
          </a:solidFill>
          <a:ln w="6350">
            <a:solidFill>
              <a:srgbClr val="E3DACB"/>
            </a:solidFill>
            <a:prstDash val="solid"/>
          </a:ln>
        </p:spPr>
      </p:sp>
      <p:sp>
        <p:nvSpPr>
          <p:cNvPr id="17" name="Text 15"/>
          <p:cNvSpPr/>
          <p:nvPr/>
        </p:nvSpPr>
        <p:spPr>
          <a:xfrm>
            <a:off x="995680" y="3190240"/>
            <a:ext cx="1050665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2</a:t>
            </a:r>
            <a:r>
              <a:rPr lang="en-US" sz="1200" dirty="0">
                <a:solidFill>
                  <a:srgbClr val="5E6672"/>
                </a:solidFill>
                <a:latin typeface="IBM Plex Sans" pitchFamily="34" charset="0"/>
                <a:ea typeface="IBM Plex Sans" pitchFamily="34" charset="-122"/>
                <a:cs typeface="IBM Plex Sans" pitchFamily="34" charset="-120"/>
              </a:rPr>
              <a:t> · The forecasting pipeline</a:t>
            </a:r>
            <a:endParaRPr lang="en-US" sz="1200" dirty="0"/>
          </a:p>
        </p:txBody>
      </p:sp>
      <p:sp>
        <p:nvSpPr>
          <p:cNvPr id="18" name="Shape 16"/>
          <p:cNvSpPr/>
          <p:nvPr/>
        </p:nvSpPr>
        <p:spPr>
          <a:xfrm>
            <a:off x="995680" y="3530600"/>
            <a:ext cx="1816576" cy="916940"/>
          </a:xfrm>
          <a:prstGeom prst="roundRect">
            <a:avLst>
              <a:gd name="adj" fmla="val 6925"/>
            </a:avLst>
          </a:prstGeom>
          <a:solidFill>
            <a:srgbClr val="14263A"/>
          </a:solidFill>
          <a:ln/>
        </p:spPr>
      </p:sp>
      <p:sp>
        <p:nvSpPr>
          <p:cNvPr id="19" name="Text 17"/>
          <p:cNvSpPr/>
          <p:nvPr/>
        </p:nvSpPr>
        <p:spPr>
          <a:xfrm>
            <a:off x="1135380" y="3657600"/>
            <a:ext cx="15879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45E"/>
                </a:solidFill>
                <a:latin typeface="IBM Plex Sans" pitchFamily="34" charset="0"/>
                <a:ea typeface="IBM Plex Sans" pitchFamily="34" charset="-122"/>
                <a:cs typeface="IBM Plex Sans" pitchFamily="34" charset="-120"/>
              </a:rPr>
              <a:t>1 · Collect</a:t>
            </a:r>
            <a:endParaRPr lang="en-US" sz="1200" dirty="0"/>
          </a:p>
        </p:txBody>
      </p:sp>
      <p:sp>
        <p:nvSpPr>
          <p:cNvPr id="20" name="Text 18"/>
          <p:cNvSpPr/>
          <p:nvPr/>
        </p:nvSpPr>
        <p:spPr>
          <a:xfrm>
            <a:off x="1135380" y="3909060"/>
            <a:ext cx="158797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4EEE3"/>
                </a:solidFill>
                <a:latin typeface="IBM Plex Sans" pitchFamily="34" charset="0"/>
                <a:ea typeface="IBM Plex Sans" pitchFamily="34" charset="-122"/>
                <a:cs typeface="IBM Plex Sans" pitchFamily="34" charset="-120"/>
              </a:rPr>
              <a:t>NASA POWER API, one request</a:t>
            </a:r>
            <a:endParaRPr lang="en-US" sz="1200" dirty="0"/>
          </a:p>
        </p:txBody>
      </p:sp>
      <p:pic>
        <p:nvPicPr>
          <p:cNvPr id="21" name="Image 0" descr="connector">    </p:cNvPr>
          <p:cNvPicPr>
            <a:picLocks noChangeAspect="1"/>
          </p:cNvPicPr>
          <p:nvPr/>
        </p:nvPicPr>
        <p:blipFill>
          <a:blip r:embed="rId1"/>
          <a:srcRect l="0" r="0" t="0" b="0"/>
          <a:stretch/>
        </p:blipFill>
        <p:spPr>
          <a:xfrm>
            <a:off x="2767806" y="3938270"/>
            <a:ext cx="368300" cy="101600"/>
          </a:xfrm>
          <a:prstGeom prst="rect">
            <a:avLst/>
          </a:prstGeom>
        </p:spPr>
      </p:pic>
      <p:sp>
        <p:nvSpPr>
          <p:cNvPr id="22" name="Shape 19"/>
          <p:cNvSpPr/>
          <p:nvPr/>
        </p:nvSpPr>
        <p:spPr>
          <a:xfrm>
            <a:off x="3091656" y="3530600"/>
            <a:ext cx="1816656" cy="916940"/>
          </a:xfrm>
          <a:prstGeom prst="roundRect">
            <a:avLst>
              <a:gd name="adj" fmla="val 6925"/>
            </a:avLst>
          </a:prstGeom>
          <a:solidFill>
            <a:srgbClr val="F4EEE3"/>
          </a:solidFill>
          <a:ln/>
        </p:spPr>
      </p:sp>
      <p:sp>
        <p:nvSpPr>
          <p:cNvPr id="23" name="Text 20"/>
          <p:cNvSpPr/>
          <p:nvPr/>
        </p:nvSpPr>
        <p:spPr>
          <a:xfrm>
            <a:off x="3231356" y="3657600"/>
            <a:ext cx="158805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01F"/>
                </a:solidFill>
                <a:latin typeface="IBM Plex Sans" pitchFamily="34" charset="0"/>
                <a:ea typeface="IBM Plex Sans" pitchFamily="34" charset="-122"/>
                <a:cs typeface="IBM Plex Sans" pitchFamily="34" charset="-120"/>
              </a:rPr>
              <a:t>2 · Save</a:t>
            </a:r>
            <a:endParaRPr lang="en-US" sz="1200" dirty="0"/>
          </a:p>
        </p:txBody>
      </p:sp>
      <p:sp>
        <p:nvSpPr>
          <p:cNvPr id="24" name="Text 21"/>
          <p:cNvSpPr/>
          <p:nvPr/>
        </p:nvSpPr>
        <p:spPr>
          <a:xfrm>
            <a:off x="3231356" y="3909060"/>
            <a:ext cx="158805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2733"/>
                </a:solidFill>
                <a:latin typeface="IBM Plex Sans" pitchFamily="34" charset="0"/>
                <a:ea typeface="IBM Plex Sans" pitchFamily="34" charset="-122"/>
                <a:cs typeface="IBM Plex Sans" pitchFamily="34" charset="-120"/>
              </a:rPr>
              <a:t>Raw JSON + CSV, never changed</a:t>
            </a:r>
            <a:endParaRPr lang="en-US" sz="1200" dirty="0"/>
          </a:p>
        </p:txBody>
      </p:sp>
      <p:pic>
        <p:nvPicPr>
          <p:cNvPr id="25" name="Image 1" descr="connector">    </p:cNvPr>
          <p:cNvPicPr>
            <a:picLocks noChangeAspect="1"/>
          </p:cNvPicPr>
          <p:nvPr/>
        </p:nvPicPr>
        <p:blipFill>
          <a:blip r:embed="rId2"/>
          <a:srcRect l="0" r="0" t="0" b="0"/>
          <a:stretch/>
        </p:blipFill>
        <p:spPr>
          <a:xfrm>
            <a:off x="4863862" y="3938270"/>
            <a:ext cx="368300" cy="101600"/>
          </a:xfrm>
          <a:prstGeom prst="rect">
            <a:avLst/>
          </a:prstGeom>
        </p:spPr>
      </p:pic>
      <p:sp>
        <p:nvSpPr>
          <p:cNvPr id="26" name="Shape 22"/>
          <p:cNvSpPr/>
          <p:nvPr/>
        </p:nvSpPr>
        <p:spPr>
          <a:xfrm>
            <a:off x="5187712" y="3530600"/>
            <a:ext cx="1816576" cy="916940"/>
          </a:xfrm>
          <a:prstGeom prst="roundRect">
            <a:avLst>
              <a:gd name="adj" fmla="val 6925"/>
            </a:avLst>
          </a:prstGeom>
          <a:solidFill>
            <a:srgbClr val="F4EEE3"/>
          </a:solidFill>
          <a:ln/>
        </p:spPr>
      </p:sp>
      <p:sp>
        <p:nvSpPr>
          <p:cNvPr id="27" name="Text 23"/>
          <p:cNvSpPr/>
          <p:nvPr/>
        </p:nvSpPr>
        <p:spPr>
          <a:xfrm>
            <a:off x="5327412" y="3657600"/>
            <a:ext cx="15879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01F"/>
                </a:solidFill>
                <a:latin typeface="IBM Plex Sans" pitchFamily="34" charset="0"/>
                <a:ea typeface="IBM Plex Sans" pitchFamily="34" charset="-122"/>
                <a:cs typeface="IBM Plex Sans" pitchFamily="34" charset="-120"/>
              </a:rPr>
              <a:t>3 · Clean</a:t>
            </a:r>
            <a:endParaRPr lang="en-US" sz="1200" dirty="0"/>
          </a:p>
        </p:txBody>
      </p:sp>
      <p:sp>
        <p:nvSpPr>
          <p:cNvPr id="28" name="Text 24"/>
          <p:cNvSpPr/>
          <p:nvPr/>
        </p:nvSpPr>
        <p:spPr>
          <a:xfrm>
            <a:off x="5327412" y="3909060"/>
            <a:ext cx="158797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2733"/>
                </a:solidFill>
                <a:latin typeface="IBM Plex Sans" pitchFamily="34" charset="0"/>
                <a:ea typeface="IBM Plex Sans" pitchFamily="34" charset="-122"/>
                <a:cs typeface="IBM Plex Sans" pitchFamily="34" charset="-120"/>
              </a:rPr>
              <a:t>Bad values → NaN, no rows dropped</a:t>
            </a:r>
            <a:endParaRPr lang="en-US" sz="1200" dirty="0"/>
          </a:p>
        </p:txBody>
      </p:sp>
      <p:pic>
        <p:nvPicPr>
          <p:cNvPr id="29" name="Image 2" descr="connector">    </p:cNvPr>
          <p:cNvPicPr>
            <a:picLocks noChangeAspect="1"/>
          </p:cNvPicPr>
          <p:nvPr/>
        </p:nvPicPr>
        <p:blipFill>
          <a:blip r:embed="rId3"/>
          <a:srcRect l="0" r="0" t="0" b="0"/>
          <a:stretch/>
        </p:blipFill>
        <p:spPr>
          <a:xfrm>
            <a:off x="6959838" y="3938270"/>
            <a:ext cx="368300" cy="101600"/>
          </a:xfrm>
          <a:prstGeom prst="rect">
            <a:avLst/>
          </a:prstGeom>
        </p:spPr>
      </p:pic>
      <p:sp>
        <p:nvSpPr>
          <p:cNvPr id="30" name="Shape 25"/>
          <p:cNvSpPr/>
          <p:nvPr/>
        </p:nvSpPr>
        <p:spPr>
          <a:xfrm>
            <a:off x="7283688" y="3530600"/>
            <a:ext cx="1816656" cy="916940"/>
          </a:xfrm>
          <a:prstGeom prst="roundRect">
            <a:avLst>
              <a:gd name="adj" fmla="val 6925"/>
            </a:avLst>
          </a:prstGeom>
          <a:solidFill>
            <a:srgbClr val="F4EEE3"/>
          </a:solidFill>
          <a:ln/>
        </p:spPr>
      </p:sp>
      <p:sp>
        <p:nvSpPr>
          <p:cNvPr id="31" name="Text 26"/>
          <p:cNvSpPr/>
          <p:nvPr/>
        </p:nvSpPr>
        <p:spPr>
          <a:xfrm>
            <a:off x="7423388" y="3657600"/>
            <a:ext cx="158805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01F"/>
                </a:solidFill>
                <a:latin typeface="IBM Plex Sans" pitchFamily="34" charset="0"/>
                <a:ea typeface="IBM Plex Sans" pitchFamily="34" charset="-122"/>
                <a:cs typeface="IBM Plex Sans" pitchFamily="34" charset="-120"/>
              </a:rPr>
              <a:t>4 · Explore</a:t>
            </a:r>
            <a:endParaRPr lang="en-US" sz="1200" dirty="0"/>
          </a:p>
        </p:txBody>
      </p:sp>
      <p:sp>
        <p:nvSpPr>
          <p:cNvPr id="32" name="Text 27"/>
          <p:cNvSpPr/>
          <p:nvPr/>
        </p:nvSpPr>
        <p:spPr>
          <a:xfrm>
            <a:off x="7423388" y="3909060"/>
            <a:ext cx="158805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2733"/>
                </a:solidFill>
                <a:latin typeface="IBM Plex Sans" pitchFamily="34" charset="0"/>
                <a:ea typeface="IBM Plex Sans" pitchFamily="34" charset="-122"/>
                <a:cs typeface="IBM Plex Sans" pitchFamily="34" charset="-120"/>
              </a:rPr>
              <a:t>EDA and hypotheses H1–H6</a:t>
            </a:r>
            <a:endParaRPr lang="en-US" sz="1200" dirty="0"/>
          </a:p>
        </p:txBody>
      </p:sp>
      <p:pic>
        <p:nvPicPr>
          <p:cNvPr id="33" name="Image 3" descr="connector">    </p:cNvPr>
          <p:cNvPicPr>
            <a:picLocks noChangeAspect="1"/>
          </p:cNvPicPr>
          <p:nvPr/>
        </p:nvPicPr>
        <p:blipFill>
          <a:blip r:embed="rId4"/>
          <a:srcRect l="0" r="0" t="0" b="0"/>
          <a:stretch/>
        </p:blipFill>
        <p:spPr>
          <a:xfrm>
            <a:off x="9055894" y="3938270"/>
            <a:ext cx="368300" cy="101600"/>
          </a:xfrm>
          <a:prstGeom prst="rect">
            <a:avLst/>
          </a:prstGeom>
        </p:spPr>
      </p:pic>
      <p:sp>
        <p:nvSpPr>
          <p:cNvPr id="34" name="Shape 28"/>
          <p:cNvSpPr/>
          <p:nvPr/>
        </p:nvSpPr>
        <p:spPr>
          <a:xfrm>
            <a:off x="9379744" y="3530600"/>
            <a:ext cx="1816576" cy="916940"/>
          </a:xfrm>
          <a:prstGeom prst="roundRect">
            <a:avLst>
              <a:gd name="adj" fmla="val 6925"/>
            </a:avLst>
          </a:prstGeom>
          <a:solidFill>
            <a:srgbClr val="F4EEE3"/>
          </a:solidFill>
          <a:ln/>
        </p:spPr>
      </p:sp>
      <p:sp>
        <p:nvSpPr>
          <p:cNvPr id="35" name="Text 29"/>
          <p:cNvSpPr/>
          <p:nvPr/>
        </p:nvSpPr>
        <p:spPr>
          <a:xfrm>
            <a:off x="9519444" y="3657600"/>
            <a:ext cx="15879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01F"/>
                </a:solidFill>
                <a:latin typeface="IBM Plex Sans" pitchFamily="34" charset="0"/>
                <a:ea typeface="IBM Plex Sans" pitchFamily="34" charset="-122"/>
                <a:cs typeface="IBM Plex Sans" pitchFamily="34" charset="-120"/>
              </a:rPr>
              <a:t>5 · Baselines</a:t>
            </a:r>
            <a:endParaRPr lang="en-US" sz="1200" dirty="0"/>
          </a:p>
        </p:txBody>
      </p:sp>
      <p:sp>
        <p:nvSpPr>
          <p:cNvPr id="36" name="Text 30"/>
          <p:cNvSpPr/>
          <p:nvPr/>
        </p:nvSpPr>
        <p:spPr>
          <a:xfrm>
            <a:off x="9519444" y="3909060"/>
            <a:ext cx="158797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2733"/>
                </a:solidFill>
                <a:latin typeface="IBM Plex Sans" pitchFamily="34" charset="0"/>
                <a:ea typeface="IBM Plex Sans" pitchFamily="34" charset="-122"/>
                <a:cs typeface="IBM Plex Sans" pitchFamily="34" charset="-120"/>
              </a:rPr>
              <a:t>Time split, numbers to beat</a:t>
            </a:r>
            <a:endParaRPr lang="en-US" sz="1200" dirty="0"/>
          </a:p>
        </p:txBody>
      </p:sp>
      <p:sp>
        <p:nvSpPr>
          <p:cNvPr id="37" name="Text 31"/>
          <p:cNvSpPr/>
          <p:nvPr/>
        </p:nvSpPr>
        <p:spPr>
          <a:xfrm>
            <a:off x="812800" y="4859020"/>
            <a:ext cx="113792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733"/>
                </a:solidFill>
                <a:latin typeface="IBM Plex Sans" pitchFamily="34" charset="0"/>
                <a:ea typeface="IBM Plex Sans" pitchFamily="34" charset="-122"/>
                <a:cs typeface="IBM Plex Sans" pitchFamily="34" charset="-120"/>
              </a:rPr>
              <a:t>Why NASA POWER:</a:t>
            </a:r>
            <a:r>
              <a:rPr lang="en-US" sz="1300" dirty="0">
                <a:solidFill>
                  <a:srgbClr val="4A5563"/>
                </a:solidFill>
                <a:latin typeface="IBM Plex Sans" pitchFamily="34" charset="0"/>
                <a:ea typeface="IBM Plex Sans" pitchFamily="34" charset="-122"/>
                <a:cs typeface="IBM Plex Sans" pitchFamily="34" charset="-120"/>
              </a:rPr>
              <a:t> free, no key, one consistent daily record back to 1981, and a single repeatable call for central Cairo (30.04° N, 31.24° E).</a:t>
            </a:r>
            <a:endParaRPr lang="en-US" sz="1300" dirty="0"/>
          </a:p>
        </p:txBody>
      </p:sp>
      <p:sp>
        <p:nvSpPr>
          <p:cNvPr id="38" name="Text 32"/>
          <p:cNvSpPr/>
          <p:nvPr/>
        </p:nvSpPr>
        <p:spPr>
          <a:xfrm>
            <a:off x="812800" y="6238241"/>
            <a:ext cx="27037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39" name="Text 33"/>
          <p:cNvSpPr/>
          <p:nvPr/>
        </p:nvSpPr>
        <p:spPr>
          <a:xfrm>
            <a:off x="7753033" y="6238241"/>
            <a:ext cx="362616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02 / 15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8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RESEARCH QUESTIONS</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Six questions guided the analysis</a:t>
            </a:r>
            <a:endParaRPr lang="en-US" sz="3200" dirty="0"/>
          </a:p>
        </p:txBody>
      </p:sp>
      <p:sp>
        <p:nvSpPr>
          <p:cNvPr id="4" name="Shape 2"/>
          <p:cNvSpPr/>
          <p:nvPr/>
        </p:nvSpPr>
        <p:spPr>
          <a:xfrm>
            <a:off x="815975" y="1882775"/>
            <a:ext cx="3414157" cy="1898650"/>
          </a:xfrm>
          <a:prstGeom prst="roundRect">
            <a:avLst>
              <a:gd name="adj" fmla="val 3846"/>
            </a:avLst>
          </a:prstGeom>
          <a:solidFill>
            <a:srgbClr val="FFFFFF"/>
          </a:solidFill>
          <a:ln w="6350">
            <a:solidFill>
              <a:srgbClr val="E3DACB"/>
            </a:solidFill>
            <a:prstDash val="solid"/>
          </a:ln>
        </p:spPr>
      </p:sp>
      <p:sp>
        <p:nvSpPr>
          <p:cNvPr id="5" name="Text 3"/>
          <p:cNvSpPr/>
          <p:nvPr/>
        </p:nvSpPr>
        <p:spPr>
          <a:xfrm>
            <a:off x="1021080" y="2062480"/>
            <a:ext cx="3094065"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C4501F"/>
                </a:solidFill>
                <a:latin typeface="Source Serif 4" pitchFamily="18" charset="0"/>
                <a:ea typeface="Source Serif 4" pitchFamily="18" charset="-122"/>
                <a:cs typeface="Source Serif 4" pitchFamily="18" charset="-120"/>
              </a:rPr>
              <a:t>H1</a:t>
            </a:r>
            <a:endParaRPr lang="en-US" sz="2400" dirty="0"/>
          </a:p>
        </p:txBody>
      </p:sp>
      <p:sp>
        <p:nvSpPr>
          <p:cNvPr id="6" name="Text 4"/>
          <p:cNvSpPr/>
          <p:nvPr/>
        </p:nvSpPr>
        <p:spPr>
          <a:xfrm>
            <a:off x="1021080" y="2473961"/>
            <a:ext cx="309406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733"/>
                </a:solidFill>
                <a:latin typeface="IBM Plex Sans" pitchFamily="34" charset="0"/>
                <a:ea typeface="IBM Plex Sans" pitchFamily="34" charset="-122"/>
                <a:cs typeface="IBM Plex Sans" pitchFamily="34" charset="-120"/>
              </a:rPr>
              <a:t>Is Cairo warming, and are nights warming faster than days?</a:t>
            </a:r>
            <a:endParaRPr lang="en-US" sz="1400" dirty="0"/>
          </a:p>
        </p:txBody>
      </p:sp>
      <p:sp>
        <p:nvSpPr>
          <p:cNvPr id="7" name="Text 5"/>
          <p:cNvSpPr/>
          <p:nvPr/>
        </p:nvSpPr>
        <p:spPr>
          <a:xfrm>
            <a:off x="1021080" y="3388361"/>
            <a:ext cx="3094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 Slide 6</a:t>
            </a:r>
            <a:endParaRPr lang="en-US" sz="1200" dirty="0"/>
          </a:p>
        </p:txBody>
      </p:sp>
      <p:sp>
        <p:nvSpPr>
          <p:cNvPr id="8" name="Shape 6"/>
          <p:cNvSpPr/>
          <p:nvPr/>
        </p:nvSpPr>
        <p:spPr>
          <a:xfrm>
            <a:off x="4388882" y="1882775"/>
            <a:ext cx="3414157" cy="1898650"/>
          </a:xfrm>
          <a:prstGeom prst="roundRect">
            <a:avLst>
              <a:gd name="adj" fmla="val 3846"/>
            </a:avLst>
          </a:prstGeom>
          <a:solidFill>
            <a:srgbClr val="FFFFFF"/>
          </a:solidFill>
          <a:ln w="6350">
            <a:solidFill>
              <a:srgbClr val="E3DACB"/>
            </a:solidFill>
            <a:prstDash val="solid"/>
          </a:ln>
        </p:spPr>
      </p:sp>
      <p:sp>
        <p:nvSpPr>
          <p:cNvPr id="9" name="Text 7"/>
          <p:cNvSpPr/>
          <p:nvPr/>
        </p:nvSpPr>
        <p:spPr>
          <a:xfrm>
            <a:off x="4593987" y="2062480"/>
            <a:ext cx="3094065"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C4501F"/>
                </a:solidFill>
                <a:latin typeface="Source Serif 4" pitchFamily="18" charset="0"/>
                <a:ea typeface="Source Serif 4" pitchFamily="18" charset="-122"/>
                <a:cs typeface="Source Serif 4" pitchFamily="18" charset="-120"/>
              </a:rPr>
              <a:t>H2</a:t>
            </a:r>
            <a:endParaRPr lang="en-US" sz="2400" dirty="0"/>
          </a:p>
        </p:txBody>
      </p:sp>
      <p:sp>
        <p:nvSpPr>
          <p:cNvPr id="10" name="Text 8"/>
          <p:cNvSpPr/>
          <p:nvPr/>
        </p:nvSpPr>
        <p:spPr>
          <a:xfrm>
            <a:off x="4593987" y="2473961"/>
            <a:ext cx="309406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733"/>
                </a:solidFill>
                <a:latin typeface="IBM Plex Sans" pitchFamily="34" charset="0"/>
                <a:ea typeface="IBM Plex Sans" pitchFamily="34" charset="-122"/>
                <a:cs typeface="IBM Plex Sans" pitchFamily="34" charset="-120"/>
              </a:rPr>
              <a:t>Are very hot days becoming more frequent?</a:t>
            </a:r>
            <a:endParaRPr lang="en-US" sz="1400" dirty="0"/>
          </a:p>
        </p:txBody>
      </p:sp>
      <p:sp>
        <p:nvSpPr>
          <p:cNvPr id="11" name="Text 9"/>
          <p:cNvSpPr/>
          <p:nvPr/>
        </p:nvSpPr>
        <p:spPr>
          <a:xfrm>
            <a:off x="4593987" y="3388361"/>
            <a:ext cx="3094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 Slide 7</a:t>
            </a:r>
            <a:endParaRPr lang="en-US" sz="1200" dirty="0"/>
          </a:p>
        </p:txBody>
      </p:sp>
      <p:sp>
        <p:nvSpPr>
          <p:cNvPr id="12" name="Shape 10"/>
          <p:cNvSpPr/>
          <p:nvPr/>
        </p:nvSpPr>
        <p:spPr>
          <a:xfrm>
            <a:off x="7958614" y="1879600"/>
            <a:ext cx="3420507" cy="1905000"/>
          </a:xfrm>
          <a:prstGeom prst="roundRect">
            <a:avLst>
              <a:gd name="adj" fmla="val 4000"/>
            </a:avLst>
          </a:prstGeom>
          <a:solidFill>
            <a:srgbClr val="14263A"/>
          </a:solidFill>
          <a:ln/>
        </p:spPr>
      </p:sp>
      <p:sp>
        <p:nvSpPr>
          <p:cNvPr id="13" name="Text 11"/>
          <p:cNvSpPr/>
          <p:nvPr/>
        </p:nvSpPr>
        <p:spPr>
          <a:xfrm>
            <a:off x="8161814" y="2057400"/>
            <a:ext cx="3104530"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2945E"/>
                </a:solidFill>
                <a:latin typeface="Source Serif 4" pitchFamily="18" charset="0"/>
                <a:ea typeface="Source Serif 4" pitchFamily="18" charset="-122"/>
                <a:cs typeface="Source Serif 4" pitchFamily="18" charset="-120"/>
              </a:rPr>
              <a:t>H3 · key question</a:t>
            </a:r>
            <a:endParaRPr lang="en-US" sz="2400" dirty="0"/>
          </a:p>
        </p:txBody>
      </p:sp>
      <p:sp>
        <p:nvSpPr>
          <p:cNvPr id="14" name="Text 12"/>
          <p:cNvSpPr/>
          <p:nvPr/>
        </p:nvSpPr>
        <p:spPr>
          <a:xfrm>
            <a:off x="8161814" y="2468880"/>
            <a:ext cx="310453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EEE3"/>
                </a:solidFill>
                <a:latin typeface="IBM Plex Sans" pitchFamily="34" charset="0"/>
                <a:ea typeface="IBM Plex Sans" pitchFamily="34" charset="-122"/>
                <a:cs typeface="IBM Plex Sans" pitchFamily="34" charset="-120"/>
              </a:rPr>
              <a:t>Did heavy rain really increase after 2016, or did the data change?</a:t>
            </a:r>
            <a:endParaRPr lang="en-US" sz="1400" dirty="0"/>
          </a:p>
        </p:txBody>
      </p:sp>
      <p:sp>
        <p:nvSpPr>
          <p:cNvPr id="15" name="Text 13"/>
          <p:cNvSpPr/>
          <p:nvPr/>
        </p:nvSpPr>
        <p:spPr>
          <a:xfrm>
            <a:off x="8161814" y="3393441"/>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BD8"/>
                </a:solidFill>
                <a:latin typeface="IBM Plex Sans" pitchFamily="34" charset="0"/>
                <a:ea typeface="IBM Plex Sans" pitchFamily="34" charset="-122"/>
                <a:cs typeface="IBM Plex Sans" pitchFamily="34" charset="-120"/>
              </a:rPr>
              <a:t>→ Slide 8</a:t>
            </a:r>
            <a:endParaRPr lang="en-US" sz="1200" dirty="0"/>
          </a:p>
        </p:txBody>
      </p:sp>
      <p:sp>
        <p:nvSpPr>
          <p:cNvPr id="16" name="Shape 14"/>
          <p:cNvSpPr/>
          <p:nvPr/>
        </p:nvSpPr>
        <p:spPr>
          <a:xfrm>
            <a:off x="815975" y="3940175"/>
            <a:ext cx="3414157" cy="1898650"/>
          </a:xfrm>
          <a:prstGeom prst="roundRect">
            <a:avLst>
              <a:gd name="adj" fmla="val 3846"/>
            </a:avLst>
          </a:prstGeom>
          <a:solidFill>
            <a:srgbClr val="FFFFFF"/>
          </a:solidFill>
          <a:ln w="6350">
            <a:solidFill>
              <a:srgbClr val="E3DACB"/>
            </a:solidFill>
            <a:prstDash val="solid"/>
          </a:ln>
        </p:spPr>
      </p:sp>
      <p:sp>
        <p:nvSpPr>
          <p:cNvPr id="17" name="Text 15"/>
          <p:cNvSpPr/>
          <p:nvPr/>
        </p:nvSpPr>
        <p:spPr>
          <a:xfrm>
            <a:off x="1021080" y="4119880"/>
            <a:ext cx="3094065"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563B0"/>
                </a:solidFill>
                <a:latin typeface="Source Serif 4" pitchFamily="18" charset="0"/>
                <a:ea typeface="Source Serif 4" pitchFamily="18" charset="-122"/>
                <a:cs typeface="Source Serif 4" pitchFamily="18" charset="-120"/>
              </a:rPr>
              <a:t>H4</a:t>
            </a:r>
            <a:endParaRPr lang="en-US" sz="2400" dirty="0"/>
          </a:p>
        </p:txBody>
      </p:sp>
      <p:sp>
        <p:nvSpPr>
          <p:cNvPr id="18" name="Text 16"/>
          <p:cNvSpPr/>
          <p:nvPr/>
        </p:nvSpPr>
        <p:spPr>
          <a:xfrm>
            <a:off x="1021080" y="4531361"/>
            <a:ext cx="309406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733"/>
                </a:solidFill>
                <a:latin typeface="IBM Plex Sans" pitchFamily="34" charset="0"/>
                <a:ea typeface="IBM Plex Sans" pitchFamily="34" charset="-122"/>
                <a:cs typeface="IBM Plex Sans" pitchFamily="34" charset="-120"/>
              </a:rPr>
              <a:t>Are cold waves becoming rarer, and which years were the strongest?</a:t>
            </a:r>
            <a:endParaRPr lang="en-US" sz="1400" dirty="0"/>
          </a:p>
        </p:txBody>
      </p:sp>
      <p:sp>
        <p:nvSpPr>
          <p:cNvPr id="19" name="Text 17"/>
          <p:cNvSpPr/>
          <p:nvPr/>
        </p:nvSpPr>
        <p:spPr>
          <a:xfrm>
            <a:off x="1021080" y="5445761"/>
            <a:ext cx="3094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 Slide 7</a:t>
            </a:r>
            <a:endParaRPr lang="en-US" sz="1200" dirty="0"/>
          </a:p>
        </p:txBody>
      </p:sp>
      <p:sp>
        <p:nvSpPr>
          <p:cNvPr id="20" name="Shape 18"/>
          <p:cNvSpPr/>
          <p:nvPr/>
        </p:nvSpPr>
        <p:spPr>
          <a:xfrm>
            <a:off x="4388882" y="3940175"/>
            <a:ext cx="3414157" cy="1898650"/>
          </a:xfrm>
          <a:prstGeom prst="roundRect">
            <a:avLst>
              <a:gd name="adj" fmla="val 3846"/>
            </a:avLst>
          </a:prstGeom>
          <a:solidFill>
            <a:srgbClr val="FFFFFF"/>
          </a:solidFill>
          <a:ln w="6350">
            <a:solidFill>
              <a:srgbClr val="E3DACB"/>
            </a:solidFill>
            <a:prstDash val="solid"/>
          </a:ln>
        </p:spPr>
      </p:sp>
      <p:sp>
        <p:nvSpPr>
          <p:cNvPr id="21" name="Text 19"/>
          <p:cNvSpPr/>
          <p:nvPr/>
        </p:nvSpPr>
        <p:spPr>
          <a:xfrm>
            <a:off x="4593987" y="4119880"/>
            <a:ext cx="3094065"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563B0"/>
                </a:solidFill>
                <a:latin typeface="Source Serif 4" pitchFamily="18" charset="0"/>
                <a:ea typeface="Source Serif 4" pitchFamily="18" charset="-122"/>
                <a:cs typeface="Source Serif 4" pitchFamily="18" charset="-120"/>
              </a:rPr>
              <a:t>H5</a:t>
            </a:r>
            <a:endParaRPr lang="en-US" sz="2400" dirty="0"/>
          </a:p>
        </p:txBody>
      </p:sp>
      <p:sp>
        <p:nvSpPr>
          <p:cNvPr id="22" name="Text 20"/>
          <p:cNvSpPr/>
          <p:nvPr/>
        </p:nvSpPr>
        <p:spPr>
          <a:xfrm>
            <a:off x="4593987" y="4531361"/>
            <a:ext cx="309406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733"/>
                </a:solidFill>
                <a:latin typeface="IBM Plex Sans" pitchFamily="34" charset="0"/>
                <a:ea typeface="IBM Plex Sans" pitchFamily="34" charset="-122"/>
                <a:cs typeface="IBM Plex Sans" pitchFamily="34" charset="-120"/>
              </a:rPr>
              <a:t>Do storms show warning signs in the days before them?</a:t>
            </a:r>
            <a:endParaRPr lang="en-US" sz="1400" dirty="0"/>
          </a:p>
        </p:txBody>
      </p:sp>
      <p:sp>
        <p:nvSpPr>
          <p:cNvPr id="23" name="Text 21"/>
          <p:cNvSpPr/>
          <p:nvPr/>
        </p:nvSpPr>
        <p:spPr>
          <a:xfrm>
            <a:off x="4593987" y="5445761"/>
            <a:ext cx="3094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 Slide 12</a:t>
            </a:r>
            <a:endParaRPr lang="en-US" sz="1200" dirty="0"/>
          </a:p>
        </p:txBody>
      </p:sp>
      <p:sp>
        <p:nvSpPr>
          <p:cNvPr id="24" name="Shape 22"/>
          <p:cNvSpPr/>
          <p:nvPr/>
        </p:nvSpPr>
        <p:spPr>
          <a:xfrm>
            <a:off x="7961789" y="3940175"/>
            <a:ext cx="3414157" cy="1898650"/>
          </a:xfrm>
          <a:prstGeom prst="roundRect">
            <a:avLst>
              <a:gd name="adj" fmla="val 3846"/>
            </a:avLst>
          </a:prstGeom>
          <a:solidFill>
            <a:srgbClr val="FFFFFF"/>
          </a:solidFill>
          <a:ln w="6350">
            <a:solidFill>
              <a:srgbClr val="E3DACB"/>
            </a:solidFill>
            <a:prstDash val="solid"/>
          </a:ln>
        </p:spPr>
      </p:sp>
      <p:sp>
        <p:nvSpPr>
          <p:cNvPr id="25" name="Text 23"/>
          <p:cNvSpPr/>
          <p:nvPr/>
        </p:nvSpPr>
        <p:spPr>
          <a:xfrm>
            <a:off x="8166894" y="4119880"/>
            <a:ext cx="3094065"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563B0"/>
                </a:solidFill>
                <a:latin typeface="Source Serif 4" pitchFamily="18" charset="0"/>
                <a:ea typeface="Source Serif 4" pitchFamily="18" charset="-122"/>
                <a:cs typeface="Source Serif 4" pitchFamily="18" charset="-120"/>
              </a:rPr>
              <a:t>H6</a:t>
            </a:r>
            <a:endParaRPr lang="en-US" sz="2400" dirty="0"/>
          </a:p>
        </p:txBody>
      </p:sp>
      <p:sp>
        <p:nvSpPr>
          <p:cNvPr id="26" name="Text 24"/>
          <p:cNvSpPr/>
          <p:nvPr/>
        </p:nvSpPr>
        <p:spPr>
          <a:xfrm>
            <a:off x="8166894" y="4531361"/>
            <a:ext cx="309406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733"/>
                </a:solidFill>
                <a:latin typeface="IBM Plex Sans" pitchFamily="34" charset="0"/>
                <a:ea typeface="IBM Plex Sans" pitchFamily="34" charset="-122"/>
                <a:cs typeface="IBM Plex Sans" pitchFamily="34" charset="-120"/>
              </a:rPr>
              <a:t>Can Khamasin-like days be detected, and when do they happen?</a:t>
            </a:r>
            <a:endParaRPr lang="en-US" sz="1400" dirty="0"/>
          </a:p>
        </p:txBody>
      </p:sp>
      <p:sp>
        <p:nvSpPr>
          <p:cNvPr id="27" name="Text 25"/>
          <p:cNvSpPr/>
          <p:nvPr/>
        </p:nvSpPr>
        <p:spPr>
          <a:xfrm>
            <a:off x="8166894" y="5445761"/>
            <a:ext cx="3094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 Slide 12</a:t>
            </a:r>
            <a:endParaRPr lang="en-US" sz="1200" dirty="0"/>
          </a:p>
        </p:txBody>
      </p:sp>
      <p:sp>
        <p:nvSpPr>
          <p:cNvPr id="28" name="Text 26"/>
          <p:cNvSpPr/>
          <p:nvPr/>
        </p:nvSpPr>
        <p:spPr>
          <a:xfrm>
            <a:off x="812800" y="6238241"/>
            <a:ext cx="27037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29" name="Text 27"/>
          <p:cNvSpPr/>
          <p:nvPr/>
        </p:nvSpPr>
        <p:spPr>
          <a:xfrm>
            <a:off x="7753033" y="6238241"/>
            <a:ext cx="362616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03 / 15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DATA QUALITY · −999 CODES → NAN · NO IMPOSSIBLE VALUES</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The data looked clean, but hid two problems</a:t>
            </a:r>
            <a:endParaRPr lang="en-US" sz="3200" dirty="0"/>
          </a:p>
        </p:txBody>
      </p:sp>
      <p:sp>
        <p:nvSpPr>
          <p:cNvPr id="4" name="Shape 2"/>
          <p:cNvSpPr/>
          <p:nvPr/>
        </p:nvSpPr>
        <p:spPr>
          <a:xfrm>
            <a:off x="815975" y="1831975"/>
            <a:ext cx="10560050" cy="1769110"/>
          </a:xfrm>
          <a:prstGeom prst="roundRect">
            <a:avLst>
              <a:gd name="adj" fmla="val 4128"/>
            </a:avLst>
          </a:prstGeom>
          <a:solidFill>
            <a:srgbClr val="FFFFFF"/>
          </a:solidFill>
          <a:ln w="6350">
            <a:solidFill>
              <a:srgbClr val="E3DACB"/>
            </a:solidFill>
            <a:prstDash val="solid"/>
          </a:ln>
        </p:spPr>
      </p:sp>
      <p:sp>
        <p:nvSpPr>
          <p:cNvPr id="5" name="Text 3"/>
          <p:cNvSpPr/>
          <p:nvPr/>
        </p:nvSpPr>
        <p:spPr>
          <a:xfrm>
            <a:off x="1021080" y="2011680"/>
            <a:ext cx="457835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B0"/>
                </a:solidFill>
                <a:latin typeface="IBM Plex Sans" pitchFamily="34" charset="0"/>
                <a:ea typeface="IBM Plex Sans" pitchFamily="34" charset="-122"/>
                <a:cs typeface="IBM Plex Sans" pitchFamily="34" charset="-120"/>
              </a:rPr>
              <a:t>PROBLEM 1 · FIG. 4A</a:t>
            </a:r>
            <a:endParaRPr lang="en-US" sz="1200" dirty="0"/>
          </a:p>
        </p:txBody>
      </p:sp>
      <p:sp>
        <p:nvSpPr>
          <p:cNvPr id="6" name="Text 4"/>
          <p:cNvSpPr/>
          <p:nvPr/>
        </p:nvSpPr>
        <p:spPr>
          <a:xfrm>
            <a:off x="1021080" y="2301241"/>
            <a:ext cx="457835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733"/>
                </a:solidFill>
                <a:latin typeface="Source Serif 4" pitchFamily="18" charset="0"/>
                <a:ea typeface="Source Serif 4" pitchFamily="18" charset="-122"/>
                <a:cs typeface="Source Serif 4" pitchFamily="18" charset="-120"/>
              </a:rPr>
              <a:t>Wind direction breaks in 2013</a:t>
            </a:r>
            <a:endParaRPr lang="en-US" sz="1800" dirty="0"/>
          </a:p>
        </p:txBody>
      </p:sp>
      <p:sp>
        <p:nvSpPr>
          <p:cNvPr id="7" name="Text 5"/>
          <p:cNvSpPr/>
          <p:nvPr/>
        </p:nvSpPr>
        <p:spPr>
          <a:xfrm>
            <a:off x="1021080" y="2651761"/>
            <a:ext cx="457835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3"/>
                </a:solidFill>
                <a:latin typeface="IBM Plex Sans" pitchFamily="34" charset="0"/>
                <a:ea typeface="IBM Plex Sans" pitchFamily="34" charset="-122"/>
                <a:cs typeface="IBM Plex Sans" pitchFamily="34" charset="-120"/>
              </a:rPr>
              <a:t>From 2013 every value is below 0 (down to −9000°), but an angle must be 0–360°: 13 years, 36 % of the column.</a:t>
            </a:r>
            <a:endParaRPr lang="en-US" sz="1300" dirty="0"/>
          </a:p>
        </p:txBody>
      </p:sp>
      <p:sp>
        <p:nvSpPr>
          <p:cNvPr id="8" name="Text 6"/>
          <p:cNvSpPr/>
          <p:nvPr/>
        </p:nvSpPr>
        <p:spPr>
          <a:xfrm>
            <a:off x="1021080" y="3190241"/>
            <a:ext cx="457835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733"/>
                </a:solidFill>
                <a:latin typeface="IBM Plex Sans" pitchFamily="34" charset="0"/>
                <a:ea typeface="IBM Plex Sans" pitchFamily="34" charset="-122"/>
                <a:cs typeface="IBM Plex Sans" pitchFamily="34" charset="-120"/>
              </a:rPr>
              <a:t>→ Left empty, not invented. Valid for 1990–2012 only.</a:t>
            </a:r>
            <a:endParaRPr lang="en-US" sz="1300" dirty="0"/>
          </a:p>
        </p:txBody>
      </p:sp>
      <p:pic>
        <p:nvPicPr>
          <p:cNvPr id="9" name="Image 0" descr="Wind direction over time: normal angles until the end of 2012, then values between about −5400 and −9000 from 2013 to 2025">    </p:cNvPr>
          <p:cNvPicPr>
            <a:picLocks noChangeAspect="1"/>
          </p:cNvPicPr>
          <p:nvPr/>
        </p:nvPicPr>
        <p:blipFill>
          <a:blip r:embed="rId1"/>
          <a:srcRect l="0" r="0" t="-323" b="-323"/>
          <a:stretch/>
        </p:blipFill>
        <p:spPr>
          <a:xfrm>
            <a:off x="5720080" y="2338705"/>
            <a:ext cx="5450840" cy="755650"/>
          </a:xfrm>
          <a:prstGeom prst="rect">
            <a:avLst/>
          </a:prstGeom>
        </p:spPr>
      </p:pic>
      <p:sp>
        <p:nvSpPr>
          <p:cNvPr id="10" name="Shape 7"/>
          <p:cNvSpPr/>
          <p:nvPr/>
        </p:nvSpPr>
        <p:spPr>
          <a:xfrm>
            <a:off x="815975" y="3759836"/>
            <a:ext cx="10560050" cy="1769110"/>
          </a:xfrm>
          <a:prstGeom prst="roundRect">
            <a:avLst>
              <a:gd name="adj" fmla="val 4128"/>
            </a:avLst>
          </a:prstGeom>
          <a:solidFill>
            <a:srgbClr val="FFFFFF"/>
          </a:solidFill>
          <a:ln w="6350">
            <a:solidFill>
              <a:srgbClr val="E3DACB"/>
            </a:solidFill>
            <a:prstDash val="solid"/>
          </a:ln>
        </p:spPr>
      </p:sp>
      <p:sp>
        <p:nvSpPr>
          <p:cNvPr id="11" name="Text 8"/>
          <p:cNvSpPr/>
          <p:nvPr/>
        </p:nvSpPr>
        <p:spPr>
          <a:xfrm>
            <a:off x="1021080" y="3939541"/>
            <a:ext cx="457835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4501F"/>
                </a:solidFill>
                <a:latin typeface="IBM Plex Sans" pitchFamily="34" charset="0"/>
                <a:ea typeface="IBM Plex Sans" pitchFamily="34" charset="-122"/>
                <a:cs typeface="IBM Plex Sans" pitchFamily="34" charset="-120"/>
              </a:rPr>
              <a:t>PROBLEM 2 · FIG. 4B</a:t>
            </a:r>
            <a:endParaRPr lang="en-US" sz="1200" dirty="0"/>
          </a:p>
        </p:txBody>
      </p:sp>
      <p:sp>
        <p:nvSpPr>
          <p:cNvPr id="12" name="Text 9"/>
          <p:cNvSpPr/>
          <p:nvPr/>
        </p:nvSpPr>
        <p:spPr>
          <a:xfrm>
            <a:off x="1021080" y="4229100"/>
            <a:ext cx="457835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733"/>
                </a:solidFill>
                <a:latin typeface="Source Serif 4" pitchFamily="18" charset="0"/>
                <a:ea typeface="Source Serif 4" pitchFamily="18" charset="-122"/>
                <a:cs typeface="Source Serif 4" pitchFamily="18" charset="-120"/>
              </a:rPr>
              <a:t>Rain jumps suddenly in 2016</a:t>
            </a:r>
            <a:endParaRPr lang="en-US" sz="1800" dirty="0"/>
          </a:p>
        </p:txBody>
      </p:sp>
      <p:sp>
        <p:nvSpPr>
          <p:cNvPr id="13" name="Text 10"/>
          <p:cNvSpPr/>
          <p:nvPr/>
        </p:nvSpPr>
        <p:spPr>
          <a:xfrm>
            <a:off x="1021080" y="4579620"/>
            <a:ext cx="457835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3"/>
                </a:solidFill>
                <a:latin typeface="IBM Plex Sans" pitchFamily="34" charset="0"/>
                <a:ea typeface="IBM Plex Sans" pitchFamily="34" charset="-122"/>
                <a:cs typeface="IBM Plex Sans" pitchFamily="34" charset="-120"/>
              </a:rPr>
              <a:t>Before 2016 no day reaches 13 mm. After 2016, many days pass 20 mm, up to 95.5 mm.</a:t>
            </a:r>
            <a:endParaRPr lang="en-US" sz="1300" dirty="0"/>
          </a:p>
        </p:txBody>
      </p:sp>
      <p:sp>
        <p:nvSpPr>
          <p:cNvPr id="14" name="Text 11"/>
          <p:cNvSpPr/>
          <p:nvPr/>
        </p:nvSpPr>
        <p:spPr>
          <a:xfrm>
            <a:off x="1021080" y="5118100"/>
            <a:ext cx="457835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733"/>
                </a:solidFill>
                <a:latin typeface="IBM Plex Sans" pitchFamily="34" charset="0"/>
                <a:ea typeface="IBM Plex Sans" pitchFamily="34" charset="-122"/>
                <a:cs typeface="IBM Plex Sans" pitchFamily="34" charset="-120"/>
              </a:rPr>
              <a:t>→ Kept, and tested as hypothesis H3.</a:t>
            </a:r>
            <a:endParaRPr lang="en-US" sz="1300" dirty="0"/>
          </a:p>
        </p:txBody>
      </p:sp>
      <p:pic>
        <p:nvPicPr>
          <p:cNvPr id="15" name="Image 1" descr="Daily rainfall 1990–2025: tiny values until 2015, then many spikes above 20 mm from 2016, with one day at 95.5 mm">    </p:cNvPr>
          <p:cNvPicPr>
            <a:picLocks noChangeAspect="1"/>
          </p:cNvPicPr>
          <p:nvPr/>
        </p:nvPicPr>
        <p:blipFill>
          <a:blip r:embed="rId2"/>
          <a:srcRect l="0" r="0" t="-123" b="-123"/>
          <a:stretch/>
        </p:blipFill>
        <p:spPr>
          <a:xfrm>
            <a:off x="5720080" y="4257041"/>
            <a:ext cx="5450840" cy="774700"/>
          </a:xfrm>
          <a:prstGeom prst="rect">
            <a:avLst/>
          </a:prstGeom>
        </p:spPr>
      </p:pic>
      <p:sp>
        <p:nvSpPr>
          <p:cNvPr id="16" name="Text 12"/>
          <p:cNvSpPr/>
          <p:nvPr/>
        </p:nvSpPr>
        <p:spPr>
          <a:xfrm>
            <a:off x="812800" y="6238239"/>
            <a:ext cx="27037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17" name="Text 13"/>
          <p:cNvSpPr/>
          <p:nvPr/>
        </p:nvSpPr>
        <p:spPr>
          <a:xfrm>
            <a:off x="7753033" y="6238239"/>
            <a:ext cx="362616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04 / 15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SEASONALITY</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Cairo’s climate at a glance: the season rules</a:t>
            </a:r>
            <a:endParaRPr lang="en-US" sz="3200" dirty="0"/>
          </a:p>
        </p:txBody>
      </p:sp>
      <p:sp>
        <p:nvSpPr>
          <p:cNvPr id="4" name="Shape 2"/>
          <p:cNvSpPr/>
          <p:nvPr/>
        </p:nvSpPr>
        <p:spPr>
          <a:xfrm>
            <a:off x="815975" y="1831975"/>
            <a:ext cx="5871210" cy="4006850"/>
          </a:xfrm>
          <a:prstGeom prst="roundRect">
            <a:avLst>
              <a:gd name="adj" fmla="val 1823"/>
            </a:avLst>
          </a:prstGeom>
          <a:solidFill>
            <a:srgbClr val="FFFFFF"/>
          </a:solidFill>
          <a:ln w="6350">
            <a:solidFill>
              <a:srgbClr val="E3DACB"/>
            </a:solidFill>
            <a:prstDash val="solid"/>
          </a:ln>
        </p:spPr>
      </p:sp>
      <p:sp>
        <p:nvSpPr>
          <p:cNvPr id="5" name="Text 3"/>
          <p:cNvSpPr/>
          <p:nvPr/>
        </p:nvSpPr>
        <p:spPr>
          <a:xfrm>
            <a:off x="970280" y="1960882"/>
            <a:ext cx="5729478" cy="23828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5</a:t>
            </a:r>
            <a:r>
              <a:rPr lang="en-US" sz="1200" dirty="0">
                <a:solidFill>
                  <a:srgbClr val="5E6672"/>
                </a:solidFill>
                <a:latin typeface="IBM Plex Sans" pitchFamily="34" charset="0"/>
                <a:ea typeface="IBM Plex Sans" pitchFamily="34" charset="-122"/>
                <a:cs typeface="IBM Plex Sans" pitchFamily="34" charset="-120"/>
              </a:rPr>
              <a:t> · Cairo climate overview, 1990–2025</a:t>
            </a:r>
            <a:endParaRPr lang="en-US" sz="1200" dirty="0"/>
          </a:p>
        </p:txBody>
      </p:sp>
      <p:pic>
        <p:nvPicPr>
          <p:cNvPr id="6" name="Image 0" descr="Four-panel climate dashboard: A the average year (max, mean, min by month); B max temperature by month and decade, hottest summers in the 2020s; C rain days by month before and after 2016, rain from October to April; D temperature vs humidity by season, hotter days are drier">    </p:cNvPr>
          <p:cNvPicPr>
            <a:picLocks noChangeAspect="1"/>
          </p:cNvPicPr>
          <p:nvPr/>
        </p:nvPicPr>
        <p:blipFill>
          <a:blip r:embed="rId1"/>
          <a:srcRect l="-170" r="-170" t="0" b="0"/>
          <a:stretch/>
        </p:blipFill>
        <p:spPr>
          <a:xfrm>
            <a:off x="970280" y="2249965"/>
            <a:ext cx="5562600" cy="3459956"/>
          </a:xfrm>
          <a:prstGeom prst="rect">
            <a:avLst/>
          </a:prstGeom>
        </p:spPr>
      </p:pic>
      <p:sp>
        <p:nvSpPr>
          <p:cNvPr id="7" name="Text 4"/>
          <p:cNvSpPr/>
          <p:nvPr/>
        </p:nvSpPr>
        <p:spPr>
          <a:xfrm>
            <a:off x="6944360" y="1828800"/>
            <a:ext cx="4567885"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4501F"/>
                </a:solidFill>
                <a:latin typeface="IBM Plex Sans" pitchFamily="34" charset="0"/>
                <a:ea typeface="IBM Plex Sans" pitchFamily="34" charset="-122"/>
                <a:cs typeface="IBM Plex Sans" pitchFamily="34" charset="-120"/>
              </a:rPr>
              <a:t>A ·</a:t>
            </a:r>
            <a:r>
              <a:rPr lang="en-US" sz="1300" dirty="0">
                <a:solidFill>
                  <a:srgbClr val="4A5563"/>
                </a:solidFill>
                <a:latin typeface="IBM Plex Sans" pitchFamily="34" charset="0"/>
                <a:ea typeface="IBM Plex Sans" pitchFamily="34" charset="-122"/>
                <a:cs typeface="IBM Plex Sans" pitchFamily="34" charset="-120"/>
              </a:rPr>
              <a:t> </a:t>
            </a:r>
            <a:r>
              <a:rPr lang="en-US" sz="1300" b="1" dirty="0">
                <a:solidFill>
                  <a:srgbClr val="1B2733"/>
                </a:solidFill>
                <a:latin typeface="IBM Plex Sans" pitchFamily="34" charset="0"/>
                <a:ea typeface="IBM Plex Sans" pitchFamily="34" charset="-122"/>
                <a:cs typeface="IBM Plex Sans" pitchFamily="34" charset="-120"/>
              </a:rPr>
              <a:t>~19 °C season swing.</a:t>
            </a:r>
            <a:r>
              <a:rPr lang="en-US" sz="1300" dirty="0">
                <a:solidFill>
                  <a:srgbClr val="4A5563"/>
                </a:solidFill>
                <a:latin typeface="IBM Plex Sans" pitchFamily="34" charset="0"/>
                <a:ea typeface="IBM Plex Sans" pitchFamily="34" charset="-122"/>
                <a:cs typeface="IBM Plex Sans" pitchFamily="34" charset="-120"/>
              </a:rPr>
              <a:t> Mean from ~12 °C in January to 30 °C in July–August.</a:t>
            </a:r>
            <a:endParaRPr lang="en-US" sz="1300" dirty="0"/>
          </a:p>
        </p:txBody>
      </p:sp>
      <p:sp>
        <p:nvSpPr>
          <p:cNvPr id="8" name="Text 5"/>
          <p:cNvSpPr/>
          <p:nvPr/>
        </p:nvSpPr>
        <p:spPr>
          <a:xfrm>
            <a:off x="6944360" y="2405382"/>
            <a:ext cx="4567885"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4501F"/>
                </a:solidFill>
                <a:latin typeface="IBM Plex Sans" pitchFamily="34" charset="0"/>
                <a:ea typeface="IBM Plex Sans" pitchFamily="34" charset="-122"/>
                <a:cs typeface="IBM Plex Sans" pitchFamily="34" charset="-120"/>
              </a:rPr>
              <a:t>B ·</a:t>
            </a:r>
            <a:r>
              <a:rPr lang="en-US" sz="1300" dirty="0">
                <a:solidFill>
                  <a:srgbClr val="4A5563"/>
                </a:solidFill>
                <a:latin typeface="IBM Plex Sans" pitchFamily="34" charset="0"/>
                <a:ea typeface="IBM Plex Sans" pitchFamily="34" charset="-122"/>
                <a:cs typeface="IBM Plex Sans" pitchFamily="34" charset="-120"/>
              </a:rPr>
              <a:t> </a:t>
            </a:r>
            <a:r>
              <a:rPr lang="en-US" sz="1300" b="1" dirty="0">
                <a:solidFill>
                  <a:srgbClr val="1B2733"/>
                </a:solidFill>
                <a:latin typeface="IBM Plex Sans" pitchFamily="34" charset="0"/>
                <a:ea typeface="IBM Plex Sans" pitchFamily="34" charset="-122"/>
                <a:cs typeface="IBM Plex Sans" pitchFamily="34" charset="-120"/>
              </a:rPr>
              <a:t>The 2020s have the hottest summers</a:t>
            </a:r>
            <a:r>
              <a:rPr lang="en-US" sz="1300" dirty="0">
                <a:solidFill>
                  <a:srgbClr val="4A5563"/>
                </a:solidFill>
                <a:latin typeface="IBM Plex Sans" pitchFamily="34" charset="0"/>
                <a:ea typeface="IBM Plex Sans" pitchFamily="34" charset="-122"/>
                <a:cs typeface="IBM Plex Sans" pitchFamily="34" charset="-120"/>
              </a:rPr>
              <a:t> (July 39.4 °C max).</a:t>
            </a:r>
            <a:endParaRPr lang="en-US" sz="1300" dirty="0"/>
          </a:p>
        </p:txBody>
      </p:sp>
      <p:sp>
        <p:nvSpPr>
          <p:cNvPr id="9" name="Text 6"/>
          <p:cNvSpPr/>
          <p:nvPr/>
        </p:nvSpPr>
        <p:spPr>
          <a:xfrm>
            <a:off x="6944360" y="2981961"/>
            <a:ext cx="4567885"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4501F"/>
                </a:solidFill>
                <a:latin typeface="IBM Plex Sans" pitchFamily="34" charset="0"/>
                <a:ea typeface="IBM Plex Sans" pitchFamily="34" charset="-122"/>
                <a:cs typeface="IBM Plex Sans" pitchFamily="34" charset="-120"/>
              </a:rPr>
              <a:t>C ·</a:t>
            </a:r>
            <a:r>
              <a:rPr lang="en-US" sz="1300" dirty="0">
                <a:solidFill>
                  <a:srgbClr val="4A5563"/>
                </a:solidFill>
                <a:latin typeface="IBM Plex Sans" pitchFamily="34" charset="0"/>
                <a:ea typeface="IBM Plex Sans" pitchFamily="34" charset="-122"/>
                <a:cs typeface="IBM Plex Sans" pitchFamily="34" charset="-120"/>
              </a:rPr>
              <a:t> </a:t>
            </a:r>
            <a:r>
              <a:rPr lang="en-US" sz="1300" b="1" dirty="0">
                <a:solidFill>
                  <a:srgbClr val="1B2733"/>
                </a:solidFill>
                <a:latin typeface="IBM Plex Sans" pitchFamily="34" charset="0"/>
                <a:ea typeface="IBM Plex Sans" pitchFamily="34" charset="-122"/>
                <a:cs typeface="IBM Plex Sans" pitchFamily="34" charset="-120"/>
              </a:rPr>
              <a:t>Rain falls October to April,</a:t>
            </a:r>
            <a:r>
              <a:rPr lang="en-US" sz="1300" dirty="0">
                <a:solidFill>
                  <a:srgbClr val="4A5563"/>
                </a:solidFill>
                <a:latin typeface="IBM Plex Sans" pitchFamily="34" charset="0"/>
                <a:ea typeface="IBM Plex Sans" pitchFamily="34" charset="-122"/>
                <a:cs typeface="IBM Plex Sans" pitchFamily="34" charset="-120"/>
              </a:rPr>
              <a:t> and rain days rise in every month after 2016.</a:t>
            </a:r>
            <a:endParaRPr lang="en-US" sz="1300" dirty="0"/>
          </a:p>
        </p:txBody>
      </p:sp>
      <p:sp>
        <p:nvSpPr>
          <p:cNvPr id="10" name="Text 7"/>
          <p:cNvSpPr/>
          <p:nvPr/>
        </p:nvSpPr>
        <p:spPr>
          <a:xfrm>
            <a:off x="6944360" y="3558539"/>
            <a:ext cx="4567885"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4501F"/>
                </a:solidFill>
                <a:latin typeface="IBM Plex Sans" pitchFamily="34" charset="0"/>
                <a:ea typeface="IBM Plex Sans" pitchFamily="34" charset="-122"/>
                <a:cs typeface="IBM Plex Sans" pitchFamily="34" charset="-120"/>
              </a:rPr>
              <a:t>D ·</a:t>
            </a:r>
            <a:r>
              <a:rPr lang="en-US" sz="1300" dirty="0">
                <a:solidFill>
                  <a:srgbClr val="4A5563"/>
                </a:solidFill>
                <a:latin typeface="IBM Plex Sans" pitchFamily="34" charset="0"/>
                <a:ea typeface="IBM Plex Sans" pitchFamily="34" charset="-122"/>
                <a:cs typeface="IBM Plex Sans" pitchFamily="34" charset="-120"/>
              </a:rPr>
              <a:t> </a:t>
            </a:r>
            <a:r>
              <a:rPr lang="en-US" sz="1300" b="1" dirty="0">
                <a:solidFill>
                  <a:srgbClr val="1B2733"/>
                </a:solidFill>
                <a:latin typeface="IBM Plex Sans" pitchFamily="34" charset="0"/>
                <a:ea typeface="IBM Plex Sans" pitchFamily="34" charset="-122"/>
                <a:cs typeface="IBM Plex Sans" pitchFamily="34" charset="-120"/>
              </a:rPr>
              <a:t>Hotter days are drier:</a:t>
            </a:r>
            <a:r>
              <a:rPr lang="en-US" sz="1300" dirty="0">
                <a:solidFill>
                  <a:srgbClr val="4A5563"/>
                </a:solidFill>
                <a:latin typeface="IBM Plex Sans" pitchFamily="34" charset="0"/>
                <a:ea typeface="IBM Plex Sans" pitchFamily="34" charset="-122"/>
                <a:cs typeface="IBM Plex Sans" pitchFamily="34" charset="-120"/>
              </a:rPr>
              <a:t> humidity moves opposite to temperature.</a:t>
            </a:r>
            <a:endParaRPr lang="en-US" sz="1300" dirty="0"/>
          </a:p>
        </p:txBody>
      </p:sp>
      <p:sp>
        <p:nvSpPr>
          <p:cNvPr id="11" name="Shape 8"/>
          <p:cNvSpPr/>
          <p:nvPr/>
        </p:nvSpPr>
        <p:spPr>
          <a:xfrm>
            <a:off x="6944360" y="5071111"/>
            <a:ext cx="4434840" cy="770890"/>
          </a:xfrm>
          <a:prstGeom prst="roundRect">
            <a:avLst>
              <a:gd name="adj" fmla="val 9885"/>
            </a:avLst>
          </a:prstGeom>
          <a:solidFill>
            <a:srgbClr val="14263A"/>
          </a:solidFill>
          <a:ln/>
        </p:spPr>
      </p:sp>
      <p:sp>
        <p:nvSpPr>
          <p:cNvPr id="12" name="Text 9"/>
          <p:cNvSpPr/>
          <p:nvPr/>
        </p:nvSpPr>
        <p:spPr>
          <a:xfrm>
            <a:off x="7122160" y="5210811"/>
            <a:ext cx="420161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45E"/>
                </a:solidFill>
                <a:latin typeface="IBM Plex Sans" pitchFamily="34" charset="0"/>
                <a:ea typeface="IBM Plex Sans" pitchFamily="34" charset="-122"/>
                <a:cs typeface="IBM Plex Sans" pitchFamily="34" charset="-120"/>
              </a:rPr>
              <a:t>MODEL INPUT</a:t>
            </a:r>
            <a:endParaRPr lang="en-US" sz="1200" dirty="0"/>
          </a:p>
        </p:txBody>
      </p:sp>
      <p:sp>
        <p:nvSpPr>
          <p:cNvPr id="13" name="Text 10"/>
          <p:cNvSpPr/>
          <p:nvPr/>
        </p:nvSpPr>
        <p:spPr>
          <a:xfrm>
            <a:off x="7122160" y="5462271"/>
            <a:ext cx="4201617"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4EEE3"/>
                </a:solidFill>
                <a:latin typeface="IBM Plex Sans" pitchFamily="34" charset="0"/>
                <a:ea typeface="IBM Plex Sans" pitchFamily="34" charset="-122"/>
                <a:cs typeface="IBM Plex Sans" pitchFamily="34" charset="-120"/>
              </a:rPr>
              <a:t>Day of year as sine and cosine</a:t>
            </a:r>
            <a:endParaRPr lang="en-US" sz="1400" dirty="0"/>
          </a:p>
        </p:txBody>
      </p:sp>
      <p:sp>
        <p:nvSpPr>
          <p:cNvPr id="14" name="Text 11"/>
          <p:cNvSpPr/>
          <p:nvPr/>
        </p:nvSpPr>
        <p:spPr>
          <a:xfrm>
            <a:off x="812800" y="6238239"/>
            <a:ext cx="27037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15" name="Text 12"/>
          <p:cNvSpPr/>
          <p:nvPr/>
        </p:nvSpPr>
        <p:spPr>
          <a:xfrm>
            <a:off x="7753033" y="6238239"/>
            <a:ext cx="362616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05 / 15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H1 · LONG-TERM TREND</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Cairo is warming, and nights faster than days</a:t>
            </a:r>
            <a:endParaRPr lang="en-US" sz="3200" dirty="0"/>
          </a:p>
        </p:txBody>
      </p:sp>
      <p:sp>
        <p:nvSpPr>
          <p:cNvPr id="4" name="Shape 2"/>
          <p:cNvSpPr/>
          <p:nvPr/>
        </p:nvSpPr>
        <p:spPr>
          <a:xfrm>
            <a:off x="815975" y="1781175"/>
            <a:ext cx="2390219" cy="1101090"/>
          </a:xfrm>
          <a:prstGeom prst="roundRect">
            <a:avLst>
              <a:gd name="adj" fmla="val 6632"/>
            </a:avLst>
          </a:prstGeom>
          <a:solidFill>
            <a:srgbClr val="FFFDF8"/>
          </a:solidFill>
          <a:ln w="6350">
            <a:solidFill>
              <a:srgbClr val="E3DACB"/>
            </a:solidFill>
            <a:prstDash val="solid"/>
          </a:ln>
        </p:spPr>
      </p:sp>
      <p:sp>
        <p:nvSpPr>
          <p:cNvPr id="5" name="Text 3"/>
          <p:cNvSpPr/>
          <p:nvPr/>
        </p:nvSpPr>
        <p:spPr>
          <a:xfrm>
            <a:off x="995680" y="1910082"/>
            <a:ext cx="2091734"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+0.41 °C</a:t>
            </a:r>
            <a:endParaRPr lang="en-US" sz="2800" dirty="0"/>
          </a:p>
        </p:txBody>
      </p:sp>
      <p:sp>
        <p:nvSpPr>
          <p:cNvPr id="6" name="Text 4"/>
          <p:cNvSpPr/>
          <p:nvPr/>
        </p:nvSpPr>
        <p:spPr>
          <a:xfrm>
            <a:off x="995680" y="2326639"/>
            <a:ext cx="209173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per 10 years · nights (min temp)</a:t>
            </a:r>
            <a:endParaRPr lang="en-US" sz="1200" dirty="0"/>
          </a:p>
        </p:txBody>
      </p:sp>
      <p:sp>
        <p:nvSpPr>
          <p:cNvPr id="7" name="Shape 5"/>
          <p:cNvSpPr/>
          <p:nvPr/>
        </p:nvSpPr>
        <p:spPr>
          <a:xfrm>
            <a:off x="3339545" y="1781175"/>
            <a:ext cx="2390219" cy="1101090"/>
          </a:xfrm>
          <a:prstGeom prst="roundRect">
            <a:avLst>
              <a:gd name="adj" fmla="val 6632"/>
            </a:avLst>
          </a:prstGeom>
          <a:solidFill>
            <a:srgbClr val="FFFDF8"/>
          </a:solidFill>
          <a:ln w="6350">
            <a:solidFill>
              <a:srgbClr val="E3DACB"/>
            </a:solidFill>
            <a:prstDash val="solid"/>
          </a:ln>
        </p:spPr>
      </p:sp>
      <p:sp>
        <p:nvSpPr>
          <p:cNvPr id="8" name="Text 6"/>
          <p:cNvSpPr/>
          <p:nvPr/>
        </p:nvSpPr>
        <p:spPr>
          <a:xfrm>
            <a:off x="3519250" y="1910082"/>
            <a:ext cx="2091734"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+0.23 °C</a:t>
            </a:r>
            <a:endParaRPr lang="en-US" sz="2800" dirty="0"/>
          </a:p>
        </p:txBody>
      </p:sp>
      <p:sp>
        <p:nvSpPr>
          <p:cNvPr id="9" name="Text 7"/>
          <p:cNvSpPr/>
          <p:nvPr/>
        </p:nvSpPr>
        <p:spPr>
          <a:xfrm>
            <a:off x="3519250" y="2326639"/>
            <a:ext cx="209173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per 10 years · days (max temp)</a:t>
            </a:r>
            <a:endParaRPr lang="en-US" sz="1200" dirty="0"/>
          </a:p>
        </p:txBody>
      </p:sp>
      <p:sp>
        <p:nvSpPr>
          <p:cNvPr id="10" name="Shape 8"/>
          <p:cNvSpPr/>
          <p:nvPr/>
        </p:nvSpPr>
        <p:spPr>
          <a:xfrm>
            <a:off x="5863114" y="1781175"/>
            <a:ext cx="2390219" cy="1101090"/>
          </a:xfrm>
          <a:prstGeom prst="roundRect">
            <a:avLst>
              <a:gd name="adj" fmla="val 6632"/>
            </a:avLst>
          </a:prstGeom>
          <a:solidFill>
            <a:srgbClr val="FFFDF8"/>
          </a:solidFill>
          <a:ln w="6350">
            <a:solidFill>
              <a:srgbClr val="E3DACB"/>
            </a:solidFill>
            <a:prstDash val="solid"/>
          </a:ln>
        </p:spPr>
      </p:sp>
      <p:sp>
        <p:nvSpPr>
          <p:cNvPr id="11" name="Text 9"/>
          <p:cNvSpPr/>
          <p:nvPr/>
        </p:nvSpPr>
        <p:spPr>
          <a:xfrm>
            <a:off x="6042819" y="1910082"/>
            <a:ext cx="2091734"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4263A"/>
                </a:solidFill>
                <a:latin typeface="Source Serif 4" pitchFamily="18" charset="0"/>
                <a:ea typeface="Source Serif 4" pitchFamily="18" charset="-122"/>
                <a:cs typeface="Source Serif 4" pitchFamily="18" charset="-120"/>
              </a:rPr>
              <a:t>2023–25</a:t>
            </a:r>
            <a:endParaRPr lang="en-US" sz="2800" dirty="0"/>
          </a:p>
        </p:txBody>
      </p:sp>
      <p:sp>
        <p:nvSpPr>
          <p:cNvPr id="12" name="Text 10"/>
          <p:cNvSpPr/>
          <p:nvPr/>
        </p:nvSpPr>
        <p:spPr>
          <a:xfrm>
            <a:off x="6042819" y="2326639"/>
            <a:ext cx="20917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among the warmest years</a:t>
            </a:r>
            <a:endParaRPr lang="en-US" sz="1200" dirty="0"/>
          </a:p>
        </p:txBody>
      </p:sp>
      <p:sp>
        <p:nvSpPr>
          <p:cNvPr id="13" name="Shape 11"/>
          <p:cNvSpPr/>
          <p:nvPr/>
        </p:nvSpPr>
        <p:spPr>
          <a:xfrm>
            <a:off x="8383508" y="1778000"/>
            <a:ext cx="2995692" cy="1107440"/>
          </a:xfrm>
          <a:prstGeom prst="roundRect">
            <a:avLst>
              <a:gd name="adj" fmla="val 6881"/>
            </a:avLst>
          </a:prstGeom>
          <a:solidFill>
            <a:srgbClr val="14263A"/>
          </a:solidFill>
          <a:ln/>
        </p:spPr>
      </p:sp>
      <p:sp>
        <p:nvSpPr>
          <p:cNvPr id="14" name="Text 12"/>
          <p:cNvSpPr/>
          <p:nvPr/>
        </p:nvSpPr>
        <p:spPr>
          <a:xfrm>
            <a:off x="8561308" y="1972311"/>
            <a:ext cx="271929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15" name="Text 13"/>
          <p:cNvSpPr/>
          <p:nvPr/>
        </p:nvSpPr>
        <p:spPr>
          <a:xfrm>
            <a:off x="8561308" y="2211071"/>
            <a:ext cx="2719295"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4EEE3"/>
                </a:solidFill>
                <a:latin typeface="IBM Plex Sans" pitchFamily="34" charset="0"/>
                <a:ea typeface="IBM Plex Sans" pitchFamily="34" charset="-122"/>
                <a:cs typeface="IBM Plex Sans" pitchFamily="34" charset="-120"/>
              </a:rPr>
              <a:t>Test years are warmest: watch for a cold bias</a:t>
            </a:r>
            <a:endParaRPr lang="en-US" sz="1400" dirty="0"/>
          </a:p>
        </p:txBody>
      </p:sp>
      <p:sp>
        <p:nvSpPr>
          <p:cNvPr id="16" name="Shape 14"/>
          <p:cNvSpPr/>
          <p:nvPr/>
        </p:nvSpPr>
        <p:spPr>
          <a:xfrm>
            <a:off x="815975" y="3091814"/>
            <a:ext cx="4499610" cy="2747010"/>
          </a:xfrm>
          <a:prstGeom prst="roundRect">
            <a:avLst>
              <a:gd name="adj" fmla="val 2658"/>
            </a:avLst>
          </a:prstGeom>
          <a:solidFill>
            <a:srgbClr val="FFFFFF"/>
          </a:solidFill>
          <a:ln w="6350">
            <a:solidFill>
              <a:srgbClr val="E3DACB"/>
            </a:solidFill>
            <a:prstDash val="solid"/>
          </a:ln>
        </p:spPr>
      </p:sp>
      <p:sp>
        <p:nvSpPr>
          <p:cNvPr id="17" name="Text 15"/>
          <p:cNvSpPr/>
          <p:nvPr/>
        </p:nvSpPr>
        <p:spPr>
          <a:xfrm>
            <a:off x="970280" y="3220721"/>
            <a:ext cx="431673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6a</a:t>
            </a:r>
            <a:r>
              <a:rPr lang="en-US" sz="1200" dirty="0">
                <a:solidFill>
                  <a:srgbClr val="5E6672"/>
                </a:solidFill>
                <a:latin typeface="IBM Plex Sans" pitchFamily="34" charset="0"/>
                <a:ea typeface="IBM Plex Sans" pitchFamily="34" charset="-122"/>
                <a:cs typeface="IBM Plex Sans" pitchFamily="34" charset="-120"/>
              </a:rPr>
              <a:t> · Yearly mean of max and min</a:t>
            </a:r>
            <a:endParaRPr lang="en-US" sz="1200" dirty="0"/>
          </a:p>
        </p:txBody>
      </p:sp>
      <p:pic>
        <p:nvPicPr>
          <p:cNvPr id="18" name="Image 0" descr="Yearly mean of max temperature (blue, about 28–31 °C) and min temperature (orange, about 14–16 °C), 1990–2025, both rising slowly">    </p:cNvPr>
          <p:cNvPicPr>
            <a:picLocks noChangeAspect="1"/>
          </p:cNvPicPr>
          <p:nvPr/>
        </p:nvPicPr>
        <p:blipFill>
          <a:blip r:embed="rId1"/>
          <a:srcRect l="0" r="0" t="-28" b="-28"/>
          <a:stretch/>
        </p:blipFill>
        <p:spPr>
          <a:xfrm>
            <a:off x="970280" y="3756025"/>
            <a:ext cx="4191000" cy="1708150"/>
          </a:xfrm>
          <a:prstGeom prst="rect">
            <a:avLst/>
          </a:prstGeom>
        </p:spPr>
      </p:pic>
      <p:sp>
        <p:nvSpPr>
          <p:cNvPr id="19" name="Shape 16"/>
          <p:cNvSpPr/>
          <p:nvPr/>
        </p:nvSpPr>
        <p:spPr>
          <a:xfrm>
            <a:off x="5474335" y="3091814"/>
            <a:ext cx="5901690" cy="2747010"/>
          </a:xfrm>
          <a:prstGeom prst="roundRect">
            <a:avLst>
              <a:gd name="adj" fmla="val 2658"/>
            </a:avLst>
          </a:prstGeom>
          <a:solidFill>
            <a:srgbClr val="FFFFFF"/>
          </a:solidFill>
          <a:ln w="6350">
            <a:solidFill>
              <a:srgbClr val="E3DACB"/>
            </a:solidFill>
            <a:prstDash val="solid"/>
          </a:ln>
        </p:spPr>
      </p:sp>
      <p:sp>
        <p:nvSpPr>
          <p:cNvPr id="20" name="Text 17"/>
          <p:cNvSpPr/>
          <p:nvPr/>
        </p:nvSpPr>
        <p:spPr>
          <a:xfrm>
            <a:off x="5628640" y="3220721"/>
            <a:ext cx="576087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6b</a:t>
            </a:r>
            <a:r>
              <a:rPr lang="en-US" sz="1200" dirty="0">
                <a:solidFill>
                  <a:srgbClr val="5E6672"/>
                </a:solidFill>
                <a:latin typeface="IBM Plex Sans" pitchFamily="34" charset="0"/>
                <a:ea typeface="IBM Plex Sans" pitchFamily="34" charset="-122"/>
                <a:cs typeface="IBM Plex Sans" pitchFamily="34" charset="-120"/>
              </a:rPr>
              <a:t> · Warmer (red) or colder (blue) than normal, 30-day mean</a:t>
            </a:r>
            <a:endParaRPr lang="en-US" sz="1200" dirty="0"/>
          </a:p>
        </p:txBody>
      </p:sp>
      <p:pic>
        <p:nvPicPr>
          <p:cNvPr id="21" name="Image 1" descr="Temperature anomaly vs the normal for each date, 30-day mean, 1990–2025: mostly blue (colder) in the 1990s and mostly red (warmer) in recent years; peak +5.2 °C in Feb 2010, low −3.6 °C in Mar 1992">    </p:cNvPr>
          <p:cNvPicPr>
            <a:picLocks noChangeAspect="1"/>
          </p:cNvPicPr>
          <p:nvPr/>
        </p:nvPicPr>
        <p:blipFill>
          <a:blip r:embed="rId2"/>
          <a:srcRect l="0" r="0" t="-23" b="-23"/>
          <a:stretch/>
        </p:blipFill>
        <p:spPr>
          <a:xfrm>
            <a:off x="5628640" y="3800475"/>
            <a:ext cx="5511800" cy="1619250"/>
          </a:xfrm>
          <a:prstGeom prst="rect">
            <a:avLst/>
          </a:prstGeom>
        </p:spPr>
      </p:pic>
      <p:sp>
        <p:nvSpPr>
          <p:cNvPr id="22" name="Text 18"/>
          <p:cNvSpPr/>
          <p:nvPr/>
        </p:nvSpPr>
        <p:spPr>
          <a:xfrm>
            <a:off x="812800" y="6238239"/>
            <a:ext cx="27037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23" name="Text 19"/>
          <p:cNvSpPr/>
          <p:nvPr/>
        </p:nvSpPr>
        <p:spPr>
          <a:xfrm>
            <a:off x="7753033" y="6238239"/>
            <a:ext cx="362616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06 / 15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H2 + H4 · EXTREMES</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More very hot days, fewer very cold nights</a:t>
            </a:r>
            <a:endParaRPr lang="en-US" sz="3200" dirty="0"/>
          </a:p>
        </p:txBody>
      </p:sp>
      <p:sp>
        <p:nvSpPr>
          <p:cNvPr id="4" name="Shape 2"/>
          <p:cNvSpPr/>
          <p:nvPr/>
        </p:nvSpPr>
        <p:spPr>
          <a:xfrm>
            <a:off x="815975" y="1831975"/>
            <a:ext cx="5175250" cy="887730"/>
          </a:xfrm>
          <a:prstGeom prst="roundRect">
            <a:avLst>
              <a:gd name="adj" fmla="val 8226"/>
            </a:avLst>
          </a:prstGeom>
          <a:solidFill>
            <a:srgbClr val="FFFDF8"/>
          </a:solidFill>
          <a:ln w="6350">
            <a:solidFill>
              <a:srgbClr val="E3DACB"/>
            </a:solidFill>
            <a:prstDash val="solid"/>
          </a:ln>
        </p:spPr>
      </p:sp>
      <p:sp>
        <p:nvSpPr>
          <p:cNvPr id="5" name="Text 3"/>
          <p:cNvSpPr/>
          <p:nvPr/>
        </p:nvSpPr>
        <p:spPr>
          <a:xfrm>
            <a:off x="995680" y="1960882"/>
            <a:ext cx="4960315"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4501F"/>
                </a:solidFill>
                <a:latin typeface="Source Serif 4" pitchFamily="18" charset="0"/>
                <a:ea typeface="Source Serif 4" pitchFamily="18" charset="-122"/>
                <a:cs typeface="Source Serif 4" pitchFamily="18" charset="-120"/>
              </a:rPr>
              <a:t>7 → 38 days</a:t>
            </a:r>
            <a:endParaRPr lang="en-US" sz="2800" dirty="0"/>
          </a:p>
        </p:txBody>
      </p:sp>
      <p:sp>
        <p:nvSpPr>
          <p:cNvPr id="6" name="Text 4"/>
          <p:cNvSpPr/>
          <p:nvPr/>
        </p:nvSpPr>
        <p:spPr>
          <a:xfrm>
            <a:off x="995680" y="2377439"/>
            <a:ext cx="496031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very hot days (max &gt; 40.1 °C): 2013 vs 2024</a:t>
            </a:r>
            <a:endParaRPr lang="en-US" sz="1200" dirty="0"/>
          </a:p>
        </p:txBody>
      </p:sp>
      <p:sp>
        <p:nvSpPr>
          <p:cNvPr id="7" name="Shape 5"/>
          <p:cNvSpPr/>
          <p:nvPr/>
        </p:nvSpPr>
        <p:spPr>
          <a:xfrm>
            <a:off x="815975" y="2853057"/>
            <a:ext cx="5175250" cy="2198370"/>
          </a:xfrm>
          <a:prstGeom prst="roundRect">
            <a:avLst>
              <a:gd name="adj" fmla="val 3322"/>
            </a:avLst>
          </a:prstGeom>
          <a:solidFill>
            <a:srgbClr val="FFFFFF"/>
          </a:solidFill>
          <a:ln w="6350">
            <a:solidFill>
              <a:srgbClr val="E3DACB"/>
            </a:solidFill>
            <a:prstDash val="solid"/>
          </a:ln>
        </p:spPr>
      </p:sp>
      <p:sp>
        <p:nvSpPr>
          <p:cNvPr id="8" name="Text 6"/>
          <p:cNvSpPr/>
          <p:nvPr/>
        </p:nvSpPr>
        <p:spPr>
          <a:xfrm>
            <a:off x="970280" y="2981961"/>
            <a:ext cx="501263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7a</a:t>
            </a:r>
            <a:r>
              <a:rPr lang="en-US" sz="1200" dirty="0">
                <a:solidFill>
                  <a:srgbClr val="5E6672"/>
                </a:solidFill>
                <a:latin typeface="IBM Plex Sans" pitchFamily="34" charset="0"/>
                <a:ea typeface="IBM Plex Sans" pitchFamily="34" charset="-122"/>
                <a:cs typeface="IBM Plex Sans" pitchFamily="34" charset="-120"/>
              </a:rPr>
              <a:t> · Very hot days per year</a:t>
            </a:r>
            <a:endParaRPr lang="en-US" sz="1200" dirty="0"/>
          </a:p>
        </p:txBody>
      </p:sp>
      <p:pic>
        <p:nvPicPr>
          <p:cNvPr id="9" name="Image 0" descr="Very hot days per year, 1990–2025: varies between 7 and 31 most years, with the two highest years 2023 (34) and 2024 (38)">    </p:cNvPr>
          <p:cNvPicPr>
            <a:picLocks noChangeAspect="1"/>
          </p:cNvPicPr>
          <p:nvPr/>
        </p:nvPicPr>
        <p:blipFill>
          <a:blip r:embed="rId1"/>
          <a:srcRect l="-3567" r="-3567" t="0" b="0"/>
          <a:stretch/>
        </p:blipFill>
        <p:spPr>
          <a:xfrm>
            <a:off x="970280" y="3271521"/>
            <a:ext cx="4876800" cy="1651000"/>
          </a:xfrm>
          <a:prstGeom prst="rect">
            <a:avLst/>
          </a:prstGeom>
        </p:spPr>
      </p:pic>
      <p:sp>
        <p:nvSpPr>
          <p:cNvPr id="10" name="Text 7"/>
          <p:cNvSpPr/>
          <p:nvPr/>
        </p:nvSpPr>
        <p:spPr>
          <a:xfrm>
            <a:off x="812800" y="5181600"/>
            <a:ext cx="5337048"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733"/>
                </a:solidFill>
                <a:latin typeface="IBM Plex Sans" pitchFamily="34" charset="0"/>
                <a:ea typeface="IBM Plex Sans" pitchFamily="34" charset="-122"/>
                <a:cs typeface="IBM Plex Sans" pitchFamily="34" charset="-120"/>
              </a:rPr>
              <a:t>H2: Partly.</a:t>
            </a:r>
            <a:r>
              <a:rPr lang="en-US" sz="1300" dirty="0">
                <a:solidFill>
                  <a:srgbClr val="1B2733"/>
                </a:solidFill>
                <a:latin typeface="IBM Plex Sans" pitchFamily="34" charset="0"/>
                <a:ea typeface="IBM Plex Sans" pitchFamily="34" charset="-122"/>
                <a:cs typeface="IBM Plex Sans" pitchFamily="34" charset="-120"/>
              </a:rPr>
              <a:t> </a:t>
            </a:r>
            <a:r>
              <a:rPr lang="en-US" sz="1300" dirty="0">
                <a:solidFill>
                  <a:srgbClr val="4A5563"/>
                </a:solidFill>
                <a:latin typeface="IBM Plex Sans" pitchFamily="34" charset="0"/>
                <a:ea typeface="IBM Plex Sans" pitchFamily="34" charset="-122"/>
                <a:cs typeface="IBM Plex Sans" pitchFamily="34" charset="-120"/>
              </a:rPr>
              <a:t>2023 and 2024 are the most extreme, but more years are needed to call it a trend.</a:t>
            </a:r>
            <a:endParaRPr lang="en-US" sz="1300" dirty="0"/>
          </a:p>
        </p:txBody>
      </p:sp>
      <p:sp>
        <p:nvSpPr>
          <p:cNvPr id="11" name="Shape 8"/>
          <p:cNvSpPr/>
          <p:nvPr/>
        </p:nvSpPr>
        <p:spPr>
          <a:xfrm>
            <a:off x="6200775" y="1831975"/>
            <a:ext cx="5175250" cy="887730"/>
          </a:xfrm>
          <a:prstGeom prst="roundRect">
            <a:avLst>
              <a:gd name="adj" fmla="val 8226"/>
            </a:avLst>
          </a:prstGeom>
          <a:solidFill>
            <a:srgbClr val="FFFDF8"/>
          </a:solidFill>
          <a:ln w="6350">
            <a:solidFill>
              <a:srgbClr val="E3DACB"/>
            </a:solidFill>
            <a:prstDash val="solid"/>
          </a:ln>
        </p:spPr>
      </p:sp>
      <p:sp>
        <p:nvSpPr>
          <p:cNvPr id="12" name="Text 9"/>
          <p:cNvSpPr/>
          <p:nvPr/>
        </p:nvSpPr>
        <p:spPr>
          <a:xfrm>
            <a:off x="6380480" y="1960882"/>
            <a:ext cx="4960315"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563B0"/>
                </a:solidFill>
                <a:latin typeface="Source Serif 4" pitchFamily="18" charset="0"/>
                <a:ea typeface="Source Serif 4" pitchFamily="18" charset="-122"/>
                <a:cs typeface="Source Serif 4" pitchFamily="18" charset="-120"/>
              </a:rPr>
              <a:t>20.4 → 15.5 nights</a:t>
            </a:r>
            <a:endParaRPr lang="en-US" sz="2800" dirty="0"/>
          </a:p>
        </p:txBody>
      </p:sp>
      <p:sp>
        <p:nvSpPr>
          <p:cNvPr id="13" name="Text 10"/>
          <p:cNvSpPr/>
          <p:nvPr/>
        </p:nvSpPr>
        <p:spPr>
          <a:xfrm>
            <a:off x="6380480" y="2377439"/>
            <a:ext cx="496031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very cold nights (min &lt; 5.7 °C) per year: 1990s vs 2020s</a:t>
            </a:r>
            <a:endParaRPr lang="en-US" sz="1200" dirty="0"/>
          </a:p>
        </p:txBody>
      </p:sp>
      <p:sp>
        <p:nvSpPr>
          <p:cNvPr id="14" name="Shape 11"/>
          <p:cNvSpPr/>
          <p:nvPr/>
        </p:nvSpPr>
        <p:spPr>
          <a:xfrm>
            <a:off x="6200775" y="2853057"/>
            <a:ext cx="5175250" cy="2198370"/>
          </a:xfrm>
          <a:prstGeom prst="roundRect">
            <a:avLst>
              <a:gd name="adj" fmla="val 3322"/>
            </a:avLst>
          </a:prstGeom>
          <a:solidFill>
            <a:srgbClr val="FFFFFF"/>
          </a:solidFill>
          <a:ln w="6350">
            <a:solidFill>
              <a:srgbClr val="E3DACB"/>
            </a:solidFill>
            <a:prstDash val="solid"/>
          </a:ln>
        </p:spPr>
      </p:sp>
      <p:sp>
        <p:nvSpPr>
          <p:cNvPr id="15" name="Text 12"/>
          <p:cNvSpPr/>
          <p:nvPr/>
        </p:nvSpPr>
        <p:spPr>
          <a:xfrm>
            <a:off x="6355080" y="2981961"/>
            <a:ext cx="501263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7b</a:t>
            </a:r>
            <a:r>
              <a:rPr lang="en-US" sz="1200" dirty="0">
                <a:solidFill>
                  <a:srgbClr val="5E6672"/>
                </a:solidFill>
                <a:latin typeface="IBM Plex Sans" pitchFamily="34" charset="0"/>
                <a:ea typeface="IBM Plex Sans" pitchFamily="34" charset="-122"/>
                <a:cs typeface="IBM Plex Sans" pitchFamily="34" charset="-120"/>
              </a:rPr>
              <a:t> · Very cold nights per year</a:t>
            </a:r>
            <a:endParaRPr lang="en-US" sz="1200" dirty="0"/>
          </a:p>
        </p:txBody>
      </p:sp>
      <p:pic>
        <p:nvPicPr>
          <p:cNvPr id="16" name="Image 1" descr="Very cold nights per year, 1990–2025: peaks in 1992 (44) and 1993 (38), slowly falling, with strong cold years still in 2012 and 2022">    </p:cNvPr>
          <p:cNvPicPr>
            <a:picLocks noChangeAspect="1"/>
          </p:cNvPicPr>
          <p:nvPr/>
        </p:nvPicPr>
        <p:blipFill>
          <a:blip r:embed="rId2"/>
          <a:srcRect l="-3567" r="-3567" t="0" b="0"/>
          <a:stretch/>
        </p:blipFill>
        <p:spPr>
          <a:xfrm>
            <a:off x="6355080" y="3271521"/>
            <a:ext cx="4876800" cy="1651000"/>
          </a:xfrm>
          <a:prstGeom prst="rect">
            <a:avLst/>
          </a:prstGeom>
        </p:spPr>
      </p:pic>
      <p:sp>
        <p:nvSpPr>
          <p:cNvPr id="17" name="Text 13"/>
          <p:cNvSpPr/>
          <p:nvPr/>
        </p:nvSpPr>
        <p:spPr>
          <a:xfrm>
            <a:off x="6197600" y="5181600"/>
            <a:ext cx="5337048"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733"/>
                </a:solidFill>
                <a:latin typeface="IBM Plex Sans" pitchFamily="34" charset="0"/>
                <a:ea typeface="IBM Plex Sans" pitchFamily="34" charset="-122"/>
                <a:cs typeface="IBM Plex Sans" pitchFamily="34" charset="-120"/>
              </a:rPr>
              <a:t>H4: Yes, slowly</a:t>
            </a:r>
            <a:r>
              <a:rPr lang="en-US" sz="1300" dirty="0">
                <a:solidFill>
                  <a:srgbClr val="1B2733"/>
                </a:solidFill>
                <a:latin typeface="IBM Plex Sans" pitchFamily="34" charset="0"/>
                <a:ea typeface="IBM Plex Sans" pitchFamily="34" charset="-122"/>
                <a:cs typeface="IBM Plex Sans" pitchFamily="34" charset="-120"/>
              </a:rPr>
              <a:t> </a:t>
            </a:r>
            <a:r>
              <a:rPr lang="en-US" sz="1300" dirty="0">
                <a:solidFill>
                  <a:srgbClr val="4A5563"/>
                </a:solidFill>
                <a:latin typeface="IBM Plex Sans" pitchFamily="34" charset="0"/>
                <a:ea typeface="IBM Plex Sans" pitchFamily="34" charset="-122"/>
                <a:cs typeface="IBM Plex Sans" pitchFamily="34" charset="-120"/>
              </a:rPr>
              <a:t>(−1.9 nights per 10 years). Strong cold years still happen, like 2022.</a:t>
            </a:r>
            <a:endParaRPr lang="en-US" sz="1300" dirty="0"/>
          </a:p>
        </p:txBody>
      </p:sp>
      <p:sp>
        <p:nvSpPr>
          <p:cNvPr id="18" name="Text 14"/>
          <p:cNvSpPr/>
          <p:nvPr/>
        </p:nvSpPr>
        <p:spPr>
          <a:xfrm>
            <a:off x="812800" y="6238239"/>
            <a:ext cx="27037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19" name="Text 15"/>
          <p:cNvSpPr/>
          <p:nvPr/>
        </p:nvSpPr>
        <p:spPr>
          <a:xfrm>
            <a:off x="7753033" y="6238239"/>
            <a:ext cx="362616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07 / 15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6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H3 · THE KEY FINDING</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EEE3"/>
                </a:solidFill>
                <a:latin typeface="Source Serif 4" pitchFamily="18" charset="0"/>
                <a:ea typeface="Source Serif 4" pitchFamily="18" charset="-122"/>
                <a:cs typeface="Source Serif 4" pitchFamily="18" charset="-120"/>
              </a:rPr>
              <a:t>Did it really rain more after 2016?</a:t>
            </a:r>
            <a:endParaRPr lang="en-US" sz="3200" dirty="0"/>
          </a:p>
        </p:txBody>
      </p:sp>
      <p:sp>
        <p:nvSpPr>
          <p:cNvPr id="4" name="Shape 2"/>
          <p:cNvSpPr/>
          <p:nvPr/>
        </p:nvSpPr>
        <p:spPr>
          <a:xfrm>
            <a:off x="812800" y="1727200"/>
            <a:ext cx="5854700" cy="1940560"/>
          </a:xfrm>
          <a:prstGeom prst="roundRect">
            <a:avLst>
              <a:gd name="adj" fmla="val 3927"/>
            </a:avLst>
          </a:prstGeom>
          <a:solidFill>
            <a:srgbClr val="FFFFFF"/>
          </a:solidFill>
          <a:ln/>
        </p:spPr>
      </p:sp>
      <p:sp>
        <p:nvSpPr>
          <p:cNvPr id="5" name="Text 3"/>
          <p:cNvSpPr/>
          <p:nvPr/>
        </p:nvSpPr>
        <p:spPr>
          <a:xfrm>
            <a:off x="965200" y="1841500"/>
            <a:ext cx="571639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8a</a:t>
            </a:r>
            <a:r>
              <a:rPr lang="en-US" sz="1200" dirty="0">
                <a:solidFill>
                  <a:srgbClr val="5E6672"/>
                </a:solidFill>
                <a:latin typeface="IBM Plex Sans" pitchFamily="34" charset="0"/>
                <a:ea typeface="IBM Plex Sans" pitchFamily="34" charset="-122"/>
                <a:cs typeface="IBM Plex Sans" pitchFamily="34" charset="-120"/>
              </a:rPr>
              <a:t> · Total rain per year: a sudden jump at 2016</a:t>
            </a:r>
            <a:endParaRPr lang="en-US" sz="1200" dirty="0"/>
          </a:p>
        </p:txBody>
      </p:sp>
      <p:pic>
        <p:nvPicPr>
          <p:cNvPr id="6" name="Image 0" descr="Total rain per year, 1990–2025: mostly under 60 mm until 2015, then 60 to 285 mm from 2016, with a dashed line at 2016">    </p:cNvPr>
          <p:cNvPicPr>
            <a:picLocks noChangeAspect="1"/>
          </p:cNvPicPr>
          <p:nvPr/>
        </p:nvPicPr>
        <p:blipFill>
          <a:blip r:embed="rId1"/>
          <a:srcRect l="0" r="0" t="-28" b="-28"/>
          <a:stretch/>
        </p:blipFill>
        <p:spPr>
          <a:xfrm>
            <a:off x="965200" y="2131061"/>
            <a:ext cx="5549900" cy="1422400"/>
          </a:xfrm>
          <a:prstGeom prst="rect">
            <a:avLst/>
          </a:prstGeom>
        </p:spPr>
      </p:pic>
      <p:sp>
        <p:nvSpPr>
          <p:cNvPr id="7" name="Shape 4"/>
          <p:cNvSpPr/>
          <p:nvPr/>
        </p:nvSpPr>
        <p:spPr>
          <a:xfrm>
            <a:off x="6819900" y="1727200"/>
            <a:ext cx="4559300" cy="485140"/>
          </a:xfrm>
          <a:prstGeom prst="roundRect">
            <a:avLst>
              <a:gd name="adj" fmla="val 15707"/>
            </a:avLst>
          </a:prstGeom>
          <a:solidFill>
            <a:srgbClr val="1E3550"/>
          </a:solidFill>
          <a:ln/>
        </p:spPr>
      </p:sp>
      <p:sp>
        <p:nvSpPr>
          <p:cNvPr id="8" name="Text 5"/>
          <p:cNvSpPr/>
          <p:nvPr/>
        </p:nvSpPr>
        <p:spPr>
          <a:xfrm>
            <a:off x="6972300" y="1863089"/>
            <a:ext cx="15035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BD8"/>
                </a:solidFill>
                <a:latin typeface="IBM Plex Sans" pitchFamily="34" charset="0"/>
                <a:ea typeface="IBM Plex Sans" pitchFamily="34" charset="-122"/>
                <a:cs typeface="IBM Plex Sans" pitchFamily="34" charset="-120"/>
              </a:rPr>
              <a:t>Rain days per year</a:t>
            </a:r>
            <a:endParaRPr lang="en-US" sz="1200" dirty="0"/>
          </a:p>
        </p:txBody>
      </p:sp>
      <p:sp>
        <p:nvSpPr>
          <p:cNvPr id="9" name="Text 6"/>
          <p:cNvSpPr/>
          <p:nvPr/>
        </p:nvSpPr>
        <p:spPr>
          <a:xfrm>
            <a:off x="9614979" y="1816100"/>
            <a:ext cx="1611821" cy="332740"/>
          </a:xfrm>
          <a:prstGeom prst="rect">
            <a:avLst/>
          </a:prstGeom>
          <a:noFill/>
          <a:ln/>
        </p:spPr>
        <p:txBody>
          <a:bodyPr wrap="square" lIns="0" tIns="0" rIns="0" bIns="0" rtlCol="0" anchor="t">
            <a:normAutofit/>
          </a:bodyPr>
          <a:lstStyle/>
          <a:p>
            <a:pPr algn="r" indent="0" marL="0">
              <a:lnSpc>
                <a:spcPts val="2420"/>
              </a:lnSpc>
              <a:buNone/>
            </a:pPr>
            <a:r>
              <a:rPr lang="en-US" sz="2200" b="1" dirty="0">
                <a:solidFill>
                  <a:srgbClr val="8DB8F2"/>
                </a:solidFill>
                <a:latin typeface="Source Serif 4" pitchFamily="18" charset="0"/>
                <a:ea typeface="Source Serif 4" pitchFamily="18" charset="-122"/>
                <a:cs typeface="Source Serif 4" pitchFamily="18" charset="-120"/>
              </a:rPr>
              <a:t>8.1</a:t>
            </a:r>
            <a:r>
              <a:rPr lang="en-US" sz="2200" b="1" dirty="0">
                <a:solidFill>
                  <a:srgbClr val="F4EEE3"/>
                </a:solidFill>
                <a:latin typeface="Source Serif 4" pitchFamily="18" charset="0"/>
                <a:ea typeface="Source Serif 4" pitchFamily="18" charset="-122"/>
                <a:cs typeface="Source Serif 4" pitchFamily="18" charset="-120"/>
              </a:rPr>
              <a:t> → </a:t>
            </a:r>
            <a:r>
              <a:rPr lang="en-US" sz="2200" b="1" dirty="0">
                <a:solidFill>
                  <a:srgbClr val="F2945E"/>
                </a:solidFill>
                <a:latin typeface="Source Serif 4" pitchFamily="18" charset="0"/>
                <a:ea typeface="Source Serif 4" pitchFamily="18" charset="-122"/>
                <a:cs typeface="Source Serif 4" pitchFamily="18" charset="-120"/>
              </a:rPr>
              <a:t>17.6</a:t>
            </a:r>
            <a:endParaRPr lang="en-US" sz="2200" dirty="0"/>
          </a:p>
        </p:txBody>
      </p:sp>
      <p:sp>
        <p:nvSpPr>
          <p:cNvPr id="10" name="Shape 7"/>
          <p:cNvSpPr/>
          <p:nvPr/>
        </p:nvSpPr>
        <p:spPr>
          <a:xfrm>
            <a:off x="6819900" y="2454911"/>
            <a:ext cx="4559300" cy="485140"/>
          </a:xfrm>
          <a:prstGeom prst="roundRect">
            <a:avLst>
              <a:gd name="adj" fmla="val 15707"/>
            </a:avLst>
          </a:prstGeom>
          <a:solidFill>
            <a:srgbClr val="1E3550"/>
          </a:solidFill>
          <a:ln/>
        </p:spPr>
      </p:sp>
      <p:sp>
        <p:nvSpPr>
          <p:cNvPr id="11" name="Text 8"/>
          <p:cNvSpPr/>
          <p:nvPr/>
        </p:nvSpPr>
        <p:spPr>
          <a:xfrm>
            <a:off x="6972300" y="2590800"/>
            <a:ext cx="26539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BD8"/>
                </a:solidFill>
                <a:latin typeface="IBM Plex Sans" pitchFamily="34" charset="0"/>
                <a:ea typeface="IBM Plex Sans" pitchFamily="34" charset="-122"/>
                <a:cs typeface="IBM Plex Sans" pitchFamily="34" charset="-120"/>
              </a:rPr>
              <a:t>Heavy rain days (≥ 10 mm) / year</a:t>
            </a:r>
            <a:endParaRPr lang="en-US" sz="1200" dirty="0"/>
          </a:p>
        </p:txBody>
      </p:sp>
      <p:sp>
        <p:nvSpPr>
          <p:cNvPr id="12" name="Text 9"/>
          <p:cNvSpPr/>
          <p:nvPr/>
        </p:nvSpPr>
        <p:spPr>
          <a:xfrm>
            <a:off x="9798336" y="2543811"/>
            <a:ext cx="1428464" cy="332740"/>
          </a:xfrm>
          <a:prstGeom prst="rect">
            <a:avLst/>
          </a:prstGeom>
          <a:noFill/>
          <a:ln/>
        </p:spPr>
        <p:txBody>
          <a:bodyPr wrap="square" lIns="0" tIns="0" rIns="0" bIns="0" rtlCol="0" anchor="t">
            <a:normAutofit/>
          </a:bodyPr>
          <a:lstStyle/>
          <a:p>
            <a:pPr algn="r" indent="0" marL="0">
              <a:lnSpc>
                <a:spcPts val="2420"/>
              </a:lnSpc>
              <a:buNone/>
            </a:pPr>
            <a:r>
              <a:rPr lang="en-US" sz="2200" b="1" dirty="0">
                <a:solidFill>
                  <a:srgbClr val="8DB8F2"/>
                </a:solidFill>
                <a:latin typeface="Source Serif 4" pitchFamily="18" charset="0"/>
                <a:ea typeface="Source Serif 4" pitchFamily="18" charset="-122"/>
                <a:cs typeface="Source Serif 4" pitchFamily="18" charset="-120"/>
              </a:rPr>
              <a:t>0.1</a:t>
            </a:r>
            <a:r>
              <a:rPr lang="en-US" sz="2200" b="1" dirty="0">
                <a:solidFill>
                  <a:srgbClr val="F4EEE3"/>
                </a:solidFill>
                <a:latin typeface="Source Serif 4" pitchFamily="18" charset="0"/>
                <a:ea typeface="Source Serif 4" pitchFamily="18" charset="-122"/>
                <a:cs typeface="Source Serif 4" pitchFamily="18" charset="-120"/>
              </a:rPr>
              <a:t> → </a:t>
            </a:r>
            <a:r>
              <a:rPr lang="en-US" sz="2200" b="1" dirty="0">
                <a:solidFill>
                  <a:srgbClr val="F2945E"/>
                </a:solidFill>
                <a:latin typeface="Source Serif 4" pitchFamily="18" charset="0"/>
                <a:ea typeface="Source Serif 4" pitchFamily="18" charset="-122"/>
                <a:cs typeface="Source Serif 4" pitchFamily="18" charset="-120"/>
              </a:rPr>
              <a:t>3.8</a:t>
            </a:r>
            <a:endParaRPr lang="en-US" sz="2200" dirty="0"/>
          </a:p>
        </p:txBody>
      </p:sp>
      <p:sp>
        <p:nvSpPr>
          <p:cNvPr id="13" name="Shape 10"/>
          <p:cNvSpPr/>
          <p:nvPr/>
        </p:nvSpPr>
        <p:spPr>
          <a:xfrm>
            <a:off x="6819900" y="3182621"/>
            <a:ext cx="4559300" cy="485140"/>
          </a:xfrm>
          <a:prstGeom prst="roundRect">
            <a:avLst>
              <a:gd name="adj" fmla="val 15707"/>
            </a:avLst>
          </a:prstGeom>
          <a:solidFill>
            <a:srgbClr val="1E3550"/>
          </a:solidFill>
          <a:ln/>
        </p:spPr>
      </p:sp>
      <p:sp>
        <p:nvSpPr>
          <p:cNvPr id="14" name="Text 11"/>
          <p:cNvSpPr/>
          <p:nvPr/>
        </p:nvSpPr>
        <p:spPr>
          <a:xfrm>
            <a:off x="6972300" y="3318511"/>
            <a:ext cx="19639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BD8"/>
                </a:solidFill>
                <a:latin typeface="IBM Plex Sans" pitchFamily="34" charset="0"/>
                <a:ea typeface="IBM Plex Sans" pitchFamily="34" charset="-122"/>
                <a:cs typeface="IBM Plex Sans" pitchFamily="34" charset="-120"/>
              </a:rPr>
              <a:t>Total rain per year (mm)</a:t>
            </a:r>
            <a:endParaRPr lang="en-US" sz="1200" dirty="0"/>
          </a:p>
        </p:txBody>
      </p:sp>
      <p:sp>
        <p:nvSpPr>
          <p:cNvPr id="15" name="Text 12"/>
          <p:cNvSpPr/>
          <p:nvPr/>
        </p:nvSpPr>
        <p:spPr>
          <a:xfrm>
            <a:off x="9534493" y="3271521"/>
            <a:ext cx="1692307" cy="332740"/>
          </a:xfrm>
          <a:prstGeom prst="rect">
            <a:avLst/>
          </a:prstGeom>
          <a:noFill/>
          <a:ln/>
        </p:spPr>
        <p:txBody>
          <a:bodyPr wrap="square" lIns="0" tIns="0" rIns="0" bIns="0" rtlCol="0" anchor="t">
            <a:normAutofit/>
          </a:bodyPr>
          <a:lstStyle/>
          <a:p>
            <a:pPr algn="r" indent="0" marL="0">
              <a:lnSpc>
                <a:spcPts val="2420"/>
              </a:lnSpc>
              <a:buNone/>
            </a:pPr>
            <a:r>
              <a:rPr lang="en-US" sz="2200" b="1" dirty="0">
                <a:solidFill>
                  <a:srgbClr val="8DB8F2"/>
                </a:solidFill>
                <a:latin typeface="Source Serif 4" pitchFamily="18" charset="0"/>
                <a:ea typeface="Source Serif 4" pitchFamily="18" charset="-122"/>
                <a:cs typeface="Source Serif 4" pitchFamily="18" charset="-120"/>
              </a:rPr>
              <a:t>30.6</a:t>
            </a:r>
            <a:r>
              <a:rPr lang="en-US" sz="2200" b="1" dirty="0">
                <a:solidFill>
                  <a:srgbClr val="F4EEE3"/>
                </a:solidFill>
                <a:latin typeface="Source Serif 4" pitchFamily="18" charset="0"/>
                <a:ea typeface="Source Serif 4" pitchFamily="18" charset="-122"/>
                <a:cs typeface="Source Serif 4" pitchFamily="18" charset="-120"/>
              </a:rPr>
              <a:t> → </a:t>
            </a:r>
            <a:r>
              <a:rPr lang="en-US" sz="2200" b="1" dirty="0">
                <a:solidFill>
                  <a:srgbClr val="F2945E"/>
                </a:solidFill>
                <a:latin typeface="Source Serif 4" pitchFamily="18" charset="0"/>
                <a:ea typeface="Source Serif 4" pitchFamily="18" charset="-122"/>
                <a:cs typeface="Source Serif 4" pitchFamily="18" charset="-120"/>
              </a:rPr>
              <a:t>142</a:t>
            </a:r>
            <a:endParaRPr lang="en-US" sz="2200" dirty="0"/>
          </a:p>
        </p:txBody>
      </p:sp>
      <p:sp>
        <p:nvSpPr>
          <p:cNvPr id="16" name="Text 13"/>
          <p:cNvSpPr/>
          <p:nvPr/>
        </p:nvSpPr>
        <p:spPr>
          <a:xfrm>
            <a:off x="812800" y="3820161"/>
            <a:ext cx="698525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45E"/>
                </a:solidFill>
                <a:latin typeface="IBM Plex Sans" pitchFamily="34" charset="0"/>
                <a:ea typeface="IBM Plex Sans" pitchFamily="34" charset="-122"/>
                <a:cs typeface="IBM Plex Sans" pitchFamily="34" charset="-120"/>
              </a:rPr>
              <a:t>WHY IT’S THE DATA, NOT THE WEATHER</a:t>
            </a:r>
            <a:endParaRPr lang="en-US" sz="1200" dirty="0"/>
          </a:p>
        </p:txBody>
      </p:sp>
      <p:sp>
        <p:nvSpPr>
          <p:cNvPr id="17" name="Text 14"/>
          <p:cNvSpPr/>
          <p:nvPr/>
        </p:nvSpPr>
        <p:spPr>
          <a:xfrm>
            <a:off x="812800" y="4122421"/>
            <a:ext cx="698525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EEE3"/>
                </a:solidFill>
                <a:latin typeface="IBM Plex Sans" pitchFamily="34" charset="0"/>
                <a:ea typeface="IBM Plex Sans" pitchFamily="34" charset="-122"/>
                <a:cs typeface="IBM Plex Sans" pitchFamily="34" charset="-120"/>
              </a:rPr>
              <a:t>1 · Sudden:</a:t>
            </a:r>
            <a:r>
              <a:rPr lang="en-US" sz="1300" dirty="0">
                <a:solidFill>
                  <a:srgbClr val="F4EEE3"/>
                </a:solidFill>
                <a:latin typeface="IBM Plex Sans" pitchFamily="34" charset="0"/>
                <a:ea typeface="IBM Plex Sans" pitchFamily="34" charset="-122"/>
                <a:cs typeface="IBM Plex Sans" pitchFamily="34" charset="-120"/>
              </a:rPr>
              <a:t> </a:t>
            </a:r>
            <a:r>
              <a:rPr lang="en-US" sz="1300" dirty="0">
                <a:solidFill>
                  <a:srgbClr val="BFCBD8"/>
                </a:solidFill>
                <a:latin typeface="IBM Plex Sans" pitchFamily="34" charset="0"/>
                <a:ea typeface="IBM Plex Sans" pitchFamily="34" charset="-122"/>
                <a:cs typeface="IBM Plex Sans" pitchFamily="34" charset="-120"/>
              </a:rPr>
              <a:t>the jump happens at one year, not as a slow rise.</a:t>
            </a:r>
            <a:endParaRPr lang="en-US" sz="1300" dirty="0"/>
          </a:p>
        </p:txBody>
      </p:sp>
      <p:sp>
        <p:nvSpPr>
          <p:cNvPr id="18" name="Text 15"/>
          <p:cNvSpPr/>
          <p:nvPr/>
        </p:nvSpPr>
        <p:spPr>
          <a:xfrm>
            <a:off x="812800" y="4442464"/>
            <a:ext cx="698525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EEE3"/>
                </a:solidFill>
                <a:latin typeface="IBM Plex Sans" pitchFamily="34" charset="0"/>
                <a:ea typeface="IBM Plex Sans" pitchFamily="34" charset="-122"/>
                <a:cs typeface="IBM Plex Sans" pitchFamily="34" charset="-120"/>
              </a:rPr>
              <a:t>2 · Unrealistic:</a:t>
            </a:r>
            <a:r>
              <a:rPr lang="en-US" sz="1300" dirty="0">
                <a:solidFill>
                  <a:srgbClr val="F4EEE3"/>
                </a:solidFill>
                <a:latin typeface="IBM Plex Sans" pitchFamily="34" charset="0"/>
                <a:ea typeface="IBM Plex Sans" pitchFamily="34" charset="-122"/>
                <a:cs typeface="IBM Plex Sans" pitchFamily="34" charset="-120"/>
              </a:rPr>
              <a:t> </a:t>
            </a:r>
            <a:r>
              <a:rPr lang="en-US" sz="1300" dirty="0">
                <a:solidFill>
                  <a:srgbClr val="BFCBD8"/>
                </a:solidFill>
                <a:latin typeface="IBM Plex Sans" pitchFamily="34" charset="0"/>
                <a:ea typeface="IBM Plex Sans" pitchFamily="34" charset="-122"/>
                <a:cs typeface="IBM Plex Sans" pitchFamily="34" charset="-120"/>
              </a:rPr>
              <a:t>142 mm a year vs Cairo’s normal of ~20–25 mm.</a:t>
            </a:r>
            <a:endParaRPr lang="en-US" sz="1300" dirty="0"/>
          </a:p>
        </p:txBody>
      </p:sp>
      <p:sp>
        <p:nvSpPr>
          <p:cNvPr id="19" name="Text 16"/>
          <p:cNvSpPr/>
          <p:nvPr/>
        </p:nvSpPr>
        <p:spPr>
          <a:xfrm>
            <a:off x="812800" y="4762500"/>
            <a:ext cx="698525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EEE3"/>
                </a:solidFill>
                <a:latin typeface="IBM Plex Sans" pitchFamily="34" charset="0"/>
                <a:ea typeface="IBM Plex Sans" pitchFamily="34" charset="-122"/>
                <a:cs typeface="IBM Plex Sans" pitchFamily="34" charset="-120"/>
              </a:rPr>
              <a:t>3 · Storms didn’t get stronger:</a:t>
            </a:r>
            <a:r>
              <a:rPr lang="en-US" sz="1300" dirty="0">
                <a:solidFill>
                  <a:srgbClr val="F4EEE3"/>
                </a:solidFill>
                <a:latin typeface="IBM Plex Sans" pitchFamily="34" charset="0"/>
                <a:ea typeface="IBM Plex Sans" pitchFamily="34" charset="-122"/>
                <a:cs typeface="IBM Plex Sans" pitchFamily="34" charset="-120"/>
              </a:rPr>
              <a:t> </a:t>
            </a:r>
            <a:r>
              <a:rPr lang="en-US" sz="1300" dirty="0">
                <a:solidFill>
                  <a:srgbClr val="BFCBD8"/>
                </a:solidFill>
                <a:latin typeface="IBM Plex Sans" pitchFamily="34" charset="0"/>
                <a:ea typeface="IBM Plex Sans" pitchFamily="34" charset="-122"/>
                <a:cs typeface="IBM Plex Sans" pitchFamily="34" charset="-120"/>
              </a:rPr>
              <a:t>only the rain number changed (Fig. 8b).</a:t>
            </a:r>
            <a:endParaRPr lang="en-US" sz="1300" dirty="0"/>
          </a:p>
        </p:txBody>
      </p:sp>
      <p:sp>
        <p:nvSpPr>
          <p:cNvPr id="20" name="Text 17"/>
          <p:cNvSpPr/>
          <p:nvPr/>
        </p:nvSpPr>
        <p:spPr>
          <a:xfrm>
            <a:off x="812800" y="5082542"/>
            <a:ext cx="6781800" cy="426085"/>
          </a:xfrm>
          <a:prstGeom prst="roundRect">
            <a:avLst>
              <a:gd name="adj" fmla="val 17884"/>
            </a:avLst>
          </a:prstGeom>
          <a:solidFill>
            <a:srgbClr val="F2945E"/>
          </a:solidFill>
          <a:ln/>
        </p:spPr>
        <p:txBody>
          <a:bodyPr wrap="square" lIns="130082" tIns="79282" rIns="0" bIns="53882" rtlCol="0" anchor="t">
            <a:normAutofit/>
          </a:bodyPr>
          <a:lstStyle/>
          <a:p>
            <a:pPr algn="l" indent="0" marL="0">
              <a:lnSpc>
                <a:spcPts val="1755"/>
              </a:lnSpc>
              <a:buNone/>
            </a:pPr>
            <a:r>
              <a:rPr lang="en-US" sz="1300" b="1" dirty="0">
                <a:solidFill>
                  <a:srgbClr val="14263A"/>
                </a:solidFill>
                <a:latin typeface="IBM Plex Sans" pitchFamily="34" charset="0"/>
                <a:ea typeface="IBM Plex Sans" pitchFamily="34" charset="-122"/>
                <a:cs typeface="IBM Plex Sans" pitchFamily="34" charset="-120"/>
              </a:rPr>
              <a:t>Answer: most likely a data change → rain work uses 2016–2025 only.</a:t>
            </a:r>
            <a:endParaRPr lang="en-US" sz="1300" dirty="0"/>
          </a:p>
        </p:txBody>
      </p:sp>
      <p:sp>
        <p:nvSpPr>
          <p:cNvPr id="21" name="Shape 18"/>
          <p:cNvSpPr/>
          <p:nvPr/>
        </p:nvSpPr>
        <p:spPr>
          <a:xfrm>
            <a:off x="7747000" y="3820161"/>
            <a:ext cx="3632200" cy="1940560"/>
          </a:xfrm>
          <a:prstGeom prst="roundRect">
            <a:avLst>
              <a:gd name="adj" fmla="val 3927"/>
            </a:avLst>
          </a:prstGeom>
          <a:solidFill>
            <a:srgbClr val="FFFFFF"/>
          </a:solidFill>
          <a:ln/>
        </p:spPr>
      </p:sp>
      <p:sp>
        <p:nvSpPr>
          <p:cNvPr id="22" name="Text 19"/>
          <p:cNvSpPr/>
          <p:nvPr/>
        </p:nvSpPr>
        <p:spPr>
          <a:xfrm>
            <a:off x="7899400" y="3934461"/>
            <a:ext cx="342722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8b</a:t>
            </a:r>
            <a:r>
              <a:rPr lang="en-US" sz="1200" dirty="0">
                <a:solidFill>
                  <a:srgbClr val="5E6672"/>
                </a:solidFill>
                <a:latin typeface="IBM Plex Sans" pitchFamily="34" charset="0"/>
                <a:ea typeface="IBM Plex Sans" pitchFamily="34" charset="-122"/>
                <a:cs typeface="IBM Plex Sans" pitchFamily="34" charset="-120"/>
              </a:rPr>
              <a:t> · Storm score flat, rain jumps</a:t>
            </a:r>
            <a:endParaRPr lang="en-US" sz="1200" dirty="0"/>
          </a:p>
        </p:txBody>
      </p:sp>
      <p:pic>
        <p:nvPicPr>
          <p:cNvPr id="23" name="Image 1" descr="Two panels, 1990–2025: the strongest storm score each year stays around the same level before and after 2016, while the biggest rain day jumps from about 5.5 mm to 36.6 mm on average after 2016">    </p:cNvPr>
          <p:cNvPicPr>
            <a:picLocks noChangeAspect="1"/>
          </p:cNvPicPr>
          <p:nvPr/>
        </p:nvPicPr>
        <p:blipFill>
          <a:blip r:embed="rId2"/>
          <a:srcRect l="-54" r="-54" t="0" b="0"/>
          <a:stretch/>
        </p:blipFill>
        <p:spPr>
          <a:xfrm>
            <a:off x="7899400" y="4224021"/>
            <a:ext cx="3327400" cy="1422400"/>
          </a:xfrm>
          <a:prstGeom prst="rect">
            <a:avLst/>
          </a:prstGeom>
        </p:spPr>
      </p:pic>
      <p:sp>
        <p:nvSpPr>
          <p:cNvPr id="24" name="Text 20"/>
          <p:cNvSpPr/>
          <p:nvPr/>
        </p:nvSpPr>
        <p:spPr>
          <a:xfrm>
            <a:off x="812800" y="6238242"/>
            <a:ext cx="27037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BD8"/>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25" name="Text 21"/>
          <p:cNvSpPr/>
          <p:nvPr/>
        </p:nvSpPr>
        <p:spPr>
          <a:xfrm>
            <a:off x="7753033" y="6238242"/>
            <a:ext cx="362616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CBD8"/>
                </a:solidFill>
                <a:latin typeface="IBM Plex Sans" pitchFamily="34" charset="0"/>
                <a:ea typeface="IBM Plex Sans" pitchFamily="34" charset="-122"/>
                <a:cs typeface="IBM Plex Sans" pitchFamily="34" charset="-120"/>
              </a:rPr>
              <a:t>Source: NASA POWER, 1990–2025 · 08 / 15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8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DECOMPOSITION AND STATIONARITY</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Season, slow trend, and 2.2 °C of daily noise</a:t>
            </a:r>
            <a:endParaRPr lang="en-US" sz="3200" dirty="0"/>
          </a:p>
        </p:txBody>
      </p:sp>
      <p:sp>
        <p:nvSpPr>
          <p:cNvPr id="4" name="Shape 2"/>
          <p:cNvSpPr/>
          <p:nvPr/>
        </p:nvSpPr>
        <p:spPr>
          <a:xfrm>
            <a:off x="815975" y="1831975"/>
            <a:ext cx="2660650" cy="781050"/>
          </a:xfrm>
          <a:prstGeom prst="roundRect">
            <a:avLst>
              <a:gd name="adj" fmla="val 9350"/>
            </a:avLst>
          </a:prstGeom>
          <a:solidFill>
            <a:srgbClr val="FFFDF8"/>
          </a:solidFill>
          <a:ln w="6350">
            <a:solidFill>
              <a:srgbClr val="E3DACB"/>
            </a:solidFill>
            <a:prstDash val="solid"/>
          </a:ln>
        </p:spPr>
      </p:sp>
      <p:sp>
        <p:nvSpPr>
          <p:cNvPr id="5" name="Text 3"/>
          <p:cNvSpPr/>
          <p:nvPr/>
        </p:nvSpPr>
        <p:spPr>
          <a:xfrm>
            <a:off x="970280" y="1935479"/>
            <a:ext cx="2422601"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C4501F"/>
                </a:solidFill>
                <a:latin typeface="Source Serif 4" pitchFamily="18" charset="0"/>
                <a:ea typeface="Source Serif 4" pitchFamily="18" charset="-122"/>
                <a:cs typeface="Source Serif 4" pitchFamily="18" charset="-120"/>
              </a:rPr>
              <a:t>19.1 °C</a:t>
            </a:r>
            <a:endParaRPr lang="en-US" sz="2400" dirty="0"/>
          </a:p>
        </p:txBody>
      </p:sp>
      <p:sp>
        <p:nvSpPr>
          <p:cNvPr id="6" name="Text 4"/>
          <p:cNvSpPr/>
          <p:nvPr/>
        </p:nvSpPr>
        <p:spPr>
          <a:xfrm>
            <a:off x="970280" y="2296164"/>
            <a:ext cx="242260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seasonal swing</a:t>
            </a:r>
            <a:endParaRPr lang="en-US" sz="1200" dirty="0"/>
          </a:p>
        </p:txBody>
      </p:sp>
      <p:sp>
        <p:nvSpPr>
          <p:cNvPr id="7" name="Shape 5"/>
          <p:cNvSpPr/>
          <p:nvPr/>
        </p:nvSpPr>
        <p:spPr>
          <a:xfrm>
            <a:off x="815975" y="2907271"/>
            <a:ext cx="2660650" cy="781050"/>
          </a:xfrm>
          <a:prstGeom prst="roundRect">
            <a:avLst>
              <a:gd name="adj" fmla="val 9350"/>
            </a:avLst>
          </a:prstGeom>
          <a:solidFill>
            <a:srgbClr val="FFFDF8"/>
          </a:solidFill>
          <a:ln w="6350">
            <a:solidFill>
              <a:srgbClr val="E3DACB"/>
            </a:solidFill>
            <a:prstDash val="solid"/>
          </a:ln>
        </p:spPr>
      </p:sp>
      <p:sp>
        <p:nvSpPr>
          <p:cNvPr id="8" name="Text 6"/>
          <p:cNvSpPr/>
          <p:nvPr/>
        </p:nvSpPr>
        <p:spPr>
          <a:xfrm>
            <a:off x="970280" y="3010774"/>
            <a:ext cx="2422601"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563B0"/>
                </a:solidFill>
                <a:latin typeface="Source Serif 4" pitchFamily="18" charset="0"/>
                <a:ea typeface="Source Serif 4" pitchFamily="18" charset="-122"/>
                <a:cs typeface="Source Serif 4" pitchFamily="18" charset="-120"/>
              </a:rPr>
              <a:t>2.8 °C</a:t>
            </a:r>
            <a:endParaRPr lang="en-US" sz="2400" dirty="0"/>
          </a:p>
        </p:txBody>
      </p:sp>
      <p:sp>
        <p:nvSpPr>
          <p:cNvPr id="9" name="Text 7"/>
          <p:cNvSpPr/>
          <p:nvPr/>
        </p:nvSpPr>
        <p:spPr>
          <a:xfrm>
            <a:off x="970280" y="3371453"/>
            <a:ext cx="242260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trend change over 36 years</a:t>
            </a:r>
            <a:endParaRPr lang="en-US" sz="1200" dirty="0"/>
          </a:p>
        </p:txBody>
      </p:sp>
      <p:sp>
        <p:nvSpPr>
          <p:cNvPr id="10" name="Shape 8"/>
          <p:cNvSpPr/>
          <p:nvPr/>
        </p:nvSpPr>
        <p:spPr>
          <a:xfrm>
            <a:off x="815975" y="3982486"/>
            <a:ext cx="2660650" cy="781050"/>
          </a:xfrm>
          <a:prstGeom prst="roundRect">
            <a:avLst>
              <a:gd name="adj" fmla="val 9350"/>
            </a:avLst>
          </a:prstGeom>
          <a:solidFill>
            <a:srgbClr val="FFFDF8"/>
          </a:solidFill>
          <a:ln w="6350">
            <a:solidFill>
              <a:srgbClr val="E3DACB"/>
            </a:solidFill>
            <a:prstDash val="solid"/>
          </a:ln>
        </p:spPr>
      </p:sp>
      <p:sp>
        <p:nvSpPr>
          <p:cNvPr id="11" name="Text 9"/>
          <p:cNvSpPr/>
          <p:nvPr/>
        </p:nvSpPr>
        <p:spPr>
          <a:xfrm>
            <a:off x="970280" y="4085989"/>
            <a:ext cx="2422601"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4263A"/>
                </a:solidFill>
                <a:latin typeface="Source Serif 4" pitchFamily="18" charset="0"/>
                <a:ea typeface="Source Serif 4" pitchFamily="18" charset="-122"/>
                <a:cs typeface="Source Serif 4" pitchFamily="18" charset="-120"/>
              </a:rPr>
              <a:t>2.2 °C</a:t>
            </a:r>
            <a:endParaRPr lang="en-US" sz="2400" dirty="0"/>
          </a:p>
        </p:txBody>
      </p:sp>
      <p:sp>
        <p:nvSpPr>
          <p:cNvPr id="12" name="Text 10"/>
          <p:cNvSpPr/>
          <p:nvPr/>
        </p:nvSpPr>
        <p:spPr>
          <a:xfrm>
            <a:off x="970280" y="4446668"/>
            <a:ext cx="242260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daily residual (std)</a:t>
            </a:r>
            <a:endParaRPr lang="en-US" sz="1200" dirty="0"/>
          </a:p>
        </p:txBody>
      </p:sp>
      <p:sp>
        <p:nvSpPr>
          <p:cNvPr id="13" name="Shape 11"/>
          <p:cNvSpPr/>
          <p:nvPr/>
        </p:nvSpPr>
        <p:spPr>
          <a:xfrm>
            <a:off x="815975" y="5057775"/>
            <a:ext cx="2660650" cy="781050"/>
          </a:xfrm>
          <a:prstGeom prst="roundRect">
            <a:avLst>
              <a:gd name="adj" fmla="val 9350"/>
            </a:avLst>
          </a:prstGeom>
          <a:solidFill>
            <a:srgbClr val="FFFDF8"/>
          </a:solidFill>
          <a:ln w="6350">
            <a:solidFill>
              <a:srgbClr val="E3DACB"/>
            </a:solidFill>
            <a:prstDash val="solid"/>
          </a:ln>
        </p:spPr>
      </p:sp>
      <p:sp>
        <p:nvSpPr>
          <p:cNvPr id="14" name="Text 12"/>
          <p:cNvSpPr/>
          <p:nvPr/>
        </p:nvSpPr>
        <p:spPr>
          <a:xfrm>
            <a:off x="970280" y="5161279"/>
            <a:ext cx="2422601"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4263A"/>
                </a:solidFill>
                <a:latin typeface="Source Serif 4" pitchFamily="18" charset="0"/>
                <a:ea typeface="Source Serif 4" pitchFamily="18" charset="-122"/>
                <a:cs typeface="Source Serif 4" pitchFamily="18" charset="-120"/>
              </a:rPr>
              <a:t>p &lt; 0.001</a:t>
            </a:r>
            <a:endParaRPr lang="en-US" sz="2400" dirty="0"/>
          </a:p>
        </p:txBody>
      </p:sp>
      <p:sp>
        <p:nvSpPr>
          <p:cNvPr id="15" name="Text 13"/>
          <p:cNvSpPr/>
          <p:nvPr/>
        </p:nvSpPr>
        <p:spPr>
          <a:xfrm>
            <a:off x="970280" y="5521964"/>
            <a:ext cx="242260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ADF: stationary, all 3 versions</a:t>
            </a:r>
            <a:endParaRPr lang="en-US" sz="1200" dirty="0"/>
          </a:p>
        </p:txBody>
      </p:sp>
      <p:sp>
        <p:nvSpPr>
          <p:cNvPr id="16" name="Shape 14"/>
          <p:cNvSpPr/>
          <p:nvPr/>
        </p:nvSpPr>
        <p:spPr>
          <a:xfrm>
            <a:off x="3635375" y="1831975"/>
            <a:ext cx="3089910" cy="4006850"/>
          </a:xfrm>
          <a:prstGeom prst="roundRect">
            <a:avLst>
              <a:gd name="adj" fmla="val 2363"/>
            </a:avLst>
          </a:prstGeom>
          <a:solidFill>
            <a:srgbClr val="FFFFFF"/>
          </a:solidFill>
          <a:ln w="6350">
            <a:solidFill>
              <a:srgbClr val="E3DACB"/>
            </a:solidFill>
            <a:prstDash val="solid"/>
          </a:ln>
        </p:spPr>
      </p:sp>
      <p:sp>
        <p:nvSpPr>
          <p:cNvPr id="17" name="Text 15"/>
          <p:cNvSpPr/>
          <p:nvPr/>
        </p:nvSpPr>
        <p:spPr>
          <a:xfrm>
            <a:off x="3789680" y="1960879"/>
            <a:ext cx="2864739" cy="23828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9a</a:t>
            </a:r>
            <a:r>
              <a:rPr lang="en-US" sz="1200" dirty="0">
                <a:solidFill>
                  <a:srgbClr val="5E6672"/>
                </a:solidFill>
                <a:latin typeface="IBM Plex Sans" pitchFamily="34" charset="0"/>
                <a:ea typeface="IBM Plex Sans" pitchFamily="34" charset="-122"/>
                <a:cs typeface="IBM Plex Sans" pitchFamily="34" charset="-120"/>
              </a:rPr>
              <a:t> · Additive decomposition</a:t>
            </a:r>
            <a:endParaRPr lang="en-US" sz="1200" dirty="0"/>
          </a:p>
        </p:txBody>
      </p:sp>
      <p:pic>
        <p:nvPicPr>
          <p:cNvPr id="18" name="Image 0" descr="Additive decomposition of mean temperature 1990–2025: observed, trend between about 20.3 and 23.1 °C, a fixed seasonal wave between −10 and +9 °C, and residual noise around zero">    </p:cNvPr>
          <p:cNvPicPr>
            <a:picLocks noChangeAspect="1"/>
          </p:cNvPicPr>
          <p:nvPr/>
        </p:nvPicPr>
        <p:blipFill>
          <a:blip r:embed="rId1"/>
          <a:srcRect l="-69" r="-69" t="0" b="0"/>
          <a:stretch/>
        </p:blipFill>
        <p:spPr>
          <a:xfrm>
            <a:off x="3789680" y="2249965"/>
            <a:ext cx="2781300" cy="3459956"/>
          </a:xfrm>
          <a:prstGeom prst="rect">
            <a:avLst/>
          </a:prstGeom>
        </p:spPr>
      </p:pic>
      <p:sp>
        <p:nvSpPr>
          <p:cNvPr id="19" name="Shape 16"/>
          <p:cNvSpPr/>
          <p:nvPr/>
        </p:nvSpPr>
        <p:spPr>
          <a:xfrm>
            <a:off x="6884035" y="1831975"/>
            <a:ext cx="4491990" cy="2623820"/>
          </a:xfrm>
          <a:prstGeom prst="roundRect">
            <a:avLst>
              <a:gd name="adj" fmla="val 2783"/>
            </a:avLst>
          </a:prstGeom>
          <a:solidFill>
            <a:srgbClr val="FFFFFF"/>
          </a:solidFill>
          <a:ln w="6350">
            <a:solidFill>
              <a:srgbClr val="E3DACB"/>
            </a:solidFill>
            <a:prstDash val="solid"/>
          </a:ln>
        </p:spPr>
      </p:sp>
      <p:sp>
        <p:nvSpPr>
          <p:cNvPr id="20" name="Text 17"/>
          <p:cNvSpPr/>
          <p:nvPr/>
        </p:nvSpPr>
        <p:spPr>
          <a:xfrm>
            <a:off x="7038340" y="1960879"/>
            <a:ext cx="430888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9b</a:t>
            </a:r>
            <a:r>
              <a:rPr lang="en-US" sz="1200" dirty="0">
                <a:solidFill>
                  <a:srgbClr val="5E6672"/>
                </a:solidFill>
                <a:latin typeface="IBM Plex Sans" pitchFamily="34" charset="0"/>
                <a:ea typeface="IBM Plex Sans" pitchFamily="34" charset="-122"/>
                <a:cs typeface="IBM Plex Sans" pitchFamily="34" charset="-120"/>
              </a:rPr>
              <a:t> · Zoom on 2018–2020</a:t>
            </a:r>
            <a:endParaRPr lang="en-US" sz="1200" dirty="0"/>
          </a:p>
        </p:txBody>
      </p:sp>
      <p:pic>
        <p:nvPicPr>
          <p:cNvPr id="21" name="Image 1" descr="Zoom on 2018–2020: the observed temperature follows the trend plus seasonal line closely; the seasonal wave repeats each year; the residual is scattered around zero within about ±6 °C">    </p:cNvPr>
          <p:cNvPicPr>
            <a:picLocks noChangeAspect="1"/>
          </p:cNvPicPr>
          <p:nvPr/>
        </p:nvPicPr>
        <p:blipFill>
          <a:blip r:embed="rId2"/>
          <a:srcRect l="0" r="0" t="-12" b="-12"/>
          <a:stretch/>
        </p:blipFill>
        <p:spPr>
          <a:xfrm>
            <a:off x="7038340" y="2250442"/>
            <a:ext cx="4203700" cy="2076450"/>
          </a:xfrm>
          <a:prstGeom prst="rect">
            <a:avLst/>
          </a:prstGeom>
        </p:spPr>
      </p:pic>
      <p:sp>
        <p:nvSpPr>
          <p:cNvPr id="22" name="Shape 18"/>
          <p:cNvSpPr/>
          <p:nvPr/>
        </p:nvSpPr>
        <p:spPr>
          <a:xfrm>
            <a:off x="6880860" y="4585971"/>
            <a:ext cx="4498340" cy="1256030"/>
          </a:xfrm>
          <a:prstGeom prst="roundRect">
            <a:avLst>
              <a:gd name="adj" fmla="val 6067"/>
            </a:avLst>
          </a:prstGeom>
          <a:solidFill>
            <a:srgbClr val="14263A"/>
          </a:solidFill>
          <a:ln/>
        </p:spPr>
      </p:sp>
      <p:sp>
        <p:nvSpPr>
          <p:cNvPr id="23" name="Text 19"/>
          <p:cNvSpPr/>
          <p:nvPr/>
        </p:nvSpPr>
        <p:spPr>
          <a:xfrm>
            <a:off x="7058660" y="4857117"/>
            <a:ext cx="426702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45E"/>
                </a:solidFill>
                <a:latin typeface="IBM Plex Sans" pitchFamily="34" charset="0"/>
                <a:ea typeface="IBM Plex Sans" pitchFamily="34" charset="-122"/>
                <a:cs typeface="IBM Plex Sans" pitchFamily="34" charset="-120"/>
              </a:rPr>
              <a:t>SO WHAT</a:t>
            </a:r>
            <a:endParaRPr lang="en-US" sz="1200" dirty="0"/>
          </a:p>
        </p:txBody>
      </p:sp>
      <p:sp>
        <p:nvSpPr>
          <p:cNvPr id="24" name="Text 20"/>
          <p:cNvSpPr/>
          <p:nvPr/>
        </p:nvSpPr>
        <p:spPr>
          <a:xfrm>
            <a:off x="7058660" y="5108575"/>
            <a:ext cx="426702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EEE3"/>
                </a:solidFill>
                <a:latin typeface="IBM Plex Sans" pitchFamily="34" charset="0"/>
                <a:ea typeface="IBM Plex Sans" pitchFamily="34" charset="-122"/>
                <a:cs typeface="IBM Plex Sans" pitchFamily="34" charset="-120"/>
              </a:rPr>
              <a:t>The calendar explains most of it. The model’s real job is the 2.2 °C left over. No differencing needed.</a:t>
            </a:r>
            <a:endParaRPr lang="en-US" sz="1300" dirty="0"/>
          </a:p>
        </p:txBody>
      </p:sp>
      <p:sp>
        <p:nvSpPr>
          <p:cNvPr id="25" name="Text 21"/>
          <p:cNvSpPr/>
          <p:nvPr/>
        </p:nvSpPr>
        <p:spPr>
          <a:xfrm>
            <a:off x="812800" y="6238242"/>
            <a:ext cx="27037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26" name="Text 22"/>
          <p:cNvSpPr/>
          <p:nvPr/>
        </p:nvSpPr>
        <p:spPr>
          <a:xfrm>
            <a:off x="7753033" y="6238242"/>
            <a:ext cx="362616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09 / 15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AUTOCORRELATION · ACF AND PACF</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Yesterday is the strongest clue for tomorrow</a:t>
            </a:r>
            <a:endParaRPr lang="en-US" sz="3200" dirty="0"/>
          </a:p>
        </p:txBody>
      </p:sp>
      <p:sp>
        <p:nvSpPr>
          <p:cNvPr id="4" name="Shape 2"/>
          <p:cNvSpPr/>
          <p:nvPr/>
        </p:nvSpPr>
        <p:spPr>
          <a:xfrm>
            <a:off x="815975" y="1831975"/>
            <a:ext cx="7306310" cy="4006850"/>
          </a:xfrm>
          <a:prstGeom prst="roundRect">
            <a:avLst>
              <a:gd name="adj" fmla="val 1823"/>
            </a:avLst>
          </a:prstGeom>
          <a:solidFill>
            <a:srgbClr val="FFFFFF"/>
          </a:solidFill>
          <a:ln w="6350">
            <a:solidFill>
              <a:srgbClr val="E3DACB"/>
            </a:solidFill>
            <a:prstDash val="solid"/>
          </a:ln>
        </p:spPr>
      </p:sp>
      <p:sp>
        <p:nvSpPr>
          <p:cNvPr id="5" name="Text 3"/>
          <p:cNvSpPr/>
          <p:nvPr/>
        </p:nvSpPr>
        <p:spPr>
          <a:xfrm>
            <a:off x="970280" y="1960879"/>
            <a:ext cx="7207631" cy="23828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10</a:t>
            </a:r>
            <a:r>
              <a:rPr lang="en-US" sz="1200" dirty="0">
                <a:solidFill>
                  <a:srgbClr val="5E6672"/>
                </a:solidFill>
                <a:latin typeface="IBM Plex Sans" pitchFamily="34" charset="0"/>
                <a:ea typeface="IBM Plex Sans" pitchFamily="34" charset="-122"/>
                <a:cs typeface="IBM Plex Sans" pitchFamily="34" charset="-120"/>
              </a:rPr>
              <a:t> · A: temperature · B–C: daily change (ACF, PACF) · D: rain days</a:t>
            </a:r>
            <a:endParaRPr lang="en-US" sz="1200" dirty="0"/>
          </a:p>
        </p:txBody>
      </p:sp>
      <p:pic>
        <p:nvPicPr>
          <p:cNvPr id="6" name="Image 0" descr="Four autocorrelation plots: A, temperature ACF over 400 days follows a yearly wave, −0.86 at six months and +0.86 at one year; B and C, the daily change only has links in the first few days; D, rain days are linked mostly to the day before">    </p:cNvPr>
          <p:cNvPicPr>
            <a:picLocks noChangeAspect="1"/>
          </p:cNvPicPr>
          <p:nvPr/>
        </p:nvPicPr>
        <p:blipFill>
          <a:blip r:embed="rId1"/>
          <a:srcRect l="-103" r="-103" t="0" b="0"/>
          <a:stretch/>
        </p:blipFill>
        <p:spPr>
          <a:xfrm>
            <a:off x="970280" y="2249965"/>
            <a:ext cx="6997700" cy="3459956"/>
          </a:xfrm>
          <a:prstGeom prst="rect">
            <a:avLst/>
          </a:prstGeom>
        </p:spPr>
      </p:pic>
      <p:sp>
        <p:nvSpPr>
          <p:cNvPr id="7" name="Shape 4"/>
          <p:cNvSpPr/>
          <p:nvPr/>
        </p:nvSpPr>
        <p:spPr>
          <a:xfrm>
            <a:off x="8331835" y="1831975"/>
            <a:ext cx="3044190" cy="707390"/>
          </a:xfrm>
          <a:prstGeom prst="roundRect">
            <a:avLst>
              <a:gd name="adj" fmla="val 10323"/>
            </a:avLst>
          </a:prstGeom>
          <a:solidFill>
            <a:srgbClr val="FFFDF8"/>
          </a:solidFill>
          <a:ln w="6350">
            <a:solidFill>
              <a:srgbClr val="E3DACB"/>
            </a:solidFill>
            <a:prstDash val="solid"/>
          </a:ln>
        </p:spPr>
      </p:sp>
      <p:sp>
        <p:nvSpPr>
          <p:cNvPr id="8" name="Text 5"/>
          <p:cNvSpPr/>
          <p:nvPr/>
        </p:nvSpPr>
        <p:spPr>
          <a:xfrm>
            <a:off x="8473440" y="1922779"/>
            <a:ext cx="284381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563B0"/>
                </a:solidFill>
                <a:latin typeface="Source Serif 4" pitchFamily="18" charset="0"/>
                <a:ea typeface="Source Serif 4" pitchFamily="18" charset="-122"/>
                <a:cs typeface="Source Serif 4" pitchFamily="18" charset="-120"/>
              </a:rPr>
              <a:t>0.97 → 0.77</a:t>
            </a:r>
            <a:endParaRPr lang="en-US" sz="2200" dirty="0"/>
          </a:p>
        </p:txBody>
      </p:sp>
      <p:sp>
        <p:nvSpPr>
          <p:cNvPr id="9" name="Text 6"/>
          <p:cNvSpPr/>
          <p:nvPr/>
        </p:nvSpPr>
        <p:spPr>
          <a:xfrm>
            <a:off x="8473440" y="2242821"/>
            <a:ext cx="284381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3"/>
                </a:solidFill>
                <a:latin typeface="IBM Plex Sans" pitchFamily="34" charset="0"/>
                <a:ea typeface="IBM Plex Sans" pitchFamily="34" charset="-122"/>
                <a:cs typeface="IBM Plex Sans" pitchFamily="34" charset="-120"/>
              </a:rPr>
              <a:t>lag-1 link, raw → season removed</a:t>
            </a:r>
            <a:endParaRPr lang="en-US" sz="1200" dirty="0"/>
          </a:p>
        </p:txBody>
      </p:sp>
      <p:sp>
        <p:nvSpPr>
          <p:cNvPr id="10" name="Shape 7"/>
          <p:cNvSpPr/>
          <p:nvPr/>
        </p:nvSpPr>
        <p:spPr>
          <a:xfrm>
            <a:off x="8331835" y="2621917"/>
            <a:ext cx="3044190" cy="707390"/>
          </a:xfrm>
          <a:prstGeom prst="roundRect">
            <a:avLst>
              <a:gd name="adj" fmla="val 10323"/>
            </a:avLst>
          </a:prstGeom>
          <a:solidFill>
            <a:srgbClr val="FFFDF8"/>
          </a:solidFill>
          <a:ln w="6350">
            <a:solidFill>
              <a:srgbClr val="E3DACB"/>
            </a:solidFill>
            <a:prstDash val="solid"/>
          </a:ln>
        </p:spPr>
      </p:sp>
      <p:sp>
        <p:nvSpPr>
          <p:cNvPr id="11" name="Text 8"/>
          <p:cNvSpPr/>
          <p:nvPr/>
        </p:nvSpPr>
        <p:spPr>
          <a:xfrm>
            <a:off x="8473440" y="2712721"/>
            <a:ext cx="284381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4263A"/>
                </a:solidFill>
                <a:latin typeface="Source Serif 4" pitchFamily="18" charset="0"/>
                <a:ea typeface="Source Serif 4" pitchFamily="18" charset="-122"/>
                <a:cs typeface="Source Serif 4" pitchFamily="18" charset="-120"/>
              </a:rPr>
              <a:t>~5 days</a:t>
            </a:r>
            <a:endParaRPr lang="en-US" sz="2200" dirty="0"/>
          </a:p>
        </p:txBody>
      </p:sp>
      <p:sp>
        <p:nvSpPr>
          <p:cNvPr id="12" name="Text 9"/>
          <p:cNvSpPr/>
          <p:nvPr/>
        </p:nvSpPr>
        <p:spPr>
          <a:xfrm>
            <a:off x="8473440" y="3032764"/>
            <a:ext cx="284381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3"/>
                </a:solidFill>
                <a:latin typeface="IBM Plex Sans" pitchFamily="34" charset="0"/>
                <a:ea typeface="IBM Plex Sans" pitchFamily="34" charset="-122"/>
                <a:cs typeface="IBM Plex Sans" pitchFamily="34" charset="-120"/>
              </a:rPr>
              <a:t>of memory in daily changes (B, C)</a:t>
            </a:r>
            <a:endParaRPr lang="en-US" sz="1200" dirty="0"/>
          </a:p>
        </p:txBody>
      </p:sp>
      <p:sp>
        <p:nvSpPr>
          <p:cNvPr id="13" name="Shape 10"/>
          <p:cNvSpPr/>
          <p:nvPr/>
        </p:nvSpPr>
        <p:spPr>
          <a:xfrm>
            <a:off x="8331835" y="3411854"/>
            <a:ext cx="3044190" cy="913130"/>
          </a:xfrm>
          <a:prstGeom prst="roundRect">
            <a:avLst>
              <a:gd name="adj" fmla="val 7997"/>
            </a:avLst>
          </a:prstGeom>
          <a:solidFill>
            <a:srgbClr val="FFFDF8"/>
          </a:solidFill>
          <a:ln w="6350">
            <a:solidFill>
              <a:srgbClr val="E3DACB"/>
            </a:solidFill>
            <a:prstDash val="solid"/>
          </a:ln>
        </p:spPr>
      </p:sp>
      <p:sp>
        <p:nvSpPr>
          <p:cNvPr id="14" name="Text 11"/>
          <p:cNvSpPr/>
          <p:nvPr/>
        </p:nvSpPr>
        <p:spPr>
          <a:xfrm>
            <a:off x="8473440" y="3502664"/>
            <a:ext cx="284381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C4501F"/>
                </a:solidFill>
                <a:latin typeface="Source Serif 4" pitchFamily="18" charset="0"/>
                <a:ea typeface="Source Serif 4" pitchFamily="18" charset="-122"/>
                <a:cs typeface="Source Serif 4" pitchFamily="18" charset="-120"/>
              </a:rPr>
              <a:t>39 % vs 5 %</a:t>
            </a:r>
            <a:endParaRPr lang="en-US" sz="2200" dirty="0"/>
          </a:p>
        </p:txBody>
      </p:sp>
      <p:sp>
        <p:nvSpPr>
          <p:cNvPr id="15" name="Text 12"/>
          <p:cNvSpPr/>
          <p:nvPr/>
        </p:nvSpPr>
        <p:spPr>
          <a:xfrm>
            <a:off x="8473440" y="3822700"/>
            <a:ext cx="284381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3"/>
                </a:solidFill>
                <a:latin typeface="IBM Plex Sans" pitchFamily="34" charset="0"/>
                <a:ea typeface="IBM Plex Sans" pitchFamily="34" charset="-122"/>
                <a:cs typeface="IBM Plex Sans" pitchFamily="34" charset="-120"/>
              </a:rPr>
              <a:t>rain tomorrow after a rain day vs normally (D)</a:t>
            </a:r>
            <a:endParaRPr lang="en-US" sz="1200" dirty="0"/>
          </a:p>
        </p:txBody>
      </p:sp>
      <p:sp>
        <p:nvSpPr>
          <p:cNvPr id="16" name="Shape 13"/>
          <p:cNvSpPr/>
          <p:nvPr/>
        </p:nvSpPr>
        <p:spPr>
          <a:xfrm>
            <a:off x="8328660" y="4404364"/>
            <a:ext cx="3050540" cy="1437640"/>
          </a:xfrm>
          <a:prstGeom prst="roundRect">
            <a:avLst>
              <a:gd name="adj" fmla="val 5300"/>
            </a:avLst>
          </a:prstGeom>
          <a:solidFill>
            <a:srgbClr val="14263A"/>
          </a:solidFill>
          <a:ln/>
        </p:spPr>
      </p:sp>
      <p:sp>
        <p:nvSpPr>
          <p:cNvPr id="17" name="Text 14"/>
          <p:cNvSpPr/>
          <p:nvPr/>
        </p:nvSpPr>
        <p:spPr>
          <a:xfrm>
            <a:off x="8481060" y="4650742"/>
            <a:ext cx="282811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45E"/>
                </a:solidFill>
                <a:latin typeface="IBM Plex Sans" pitchFamily="34" charset="0"/>
                <a:ea typeface="IBM Plex Sans" pitchFamily="34" charset="-122"/>
                <a:cs typeface="IBM Plex Sans" pitchFamily="34" charset="-120"/>
              </a:rPr>
              <a:t>FEATURES</a:t>
            </a:r>
            <a:endParaRPr lang="en-US" sz="1200" dirty="0"/>
          </a:p>
        </p:txBody>
      </p:sp>
      <p:sp>
        <p:nvSpPr>
          <p:cNvPr id="18" name="Text 15"/>
          <p:cNvSpPr/>
          <p:nvPr/>
        </p:nvSpPr>
        <p:spPr>
          <a:xfrm>
            <a:off x="8481060" y="4902200"/>
            <a:ext cx="282811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EEE3"/>
                </a:solidFill>
                <a:latin typeface="IBM Plex Sans" pitchFamily="34" charset="0"/>
                <a:ea typeface="IBM Plex Sans" pitchFamily="34" charset="-122"/>
                <a:cs typeface="IBM Plex Sans" pitchFamily="34" charset="-120"/>
              </a:rPr>
              <a:t>Last 1–5 days and short rolling means. Drop lag 365. “Rain today” is the top rain clue.</a:t>
            </a:r>
            <a:endParaRPr lang="en-US" sz="1300" dirty="0"/>
          </a:p>
        </p:txBody>
      </p:sp>
      <p:sp>
        <p:nvSpPr>
          <p:cNvPr id="19" name="Text 16"/>
          <p:cNvSpPr/>
          <p:nvPr/>
        </p:nvSpPr>
        <p:spPr>
          <a:xfrm>
            <a:off x="812800" y="6238242"/>
            <a:ext cx="27037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20" name="Text 17"/>
          <p:cNvSpPr/>
          <p:nvPr/>
        </p:nvSpPr>
        <p:spPr>
          <a:xfrm>
            <a:off x="7753033" y="6238242"/>
            <a:ext cx="362616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10 / 15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8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EXTREME EVENTS · STORM SCORE</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Strong storms, little rain, except March 2020</a:t>
            </a:r>
            <a:endParaRPr lang="en-US" sz="3200" dirty="0"/>
          </a:p>
        </p:txBody>
      </p:sp>
      <p:sp>
        <p:nvSpPr>
          <p:cNvPr id="4" name="Shape 2"/>
          <p:cNvSpPr/>
          <p:nvPr/>
        </p:nvSpPr>
        <p:spPr>
          <a:xfrm>
            <a:off x="815975" y="1831975"/>
            <a:ext cx="4810760" cy="4006850"/>
          </a:xfrm>
          <a:prstGeom prst="roundRect">
            <a:avLst>
              <a:gd name="adj" fmla="val 1823"/>
            </a:avLst>
          </a:prstGeom>
          <a:solidFill>
            <a:srgbClr val="FFFFFF"/>
          </a:solidFill>
          <a:ln w="6350">
            <a:solidFill>
              <a:srgbClr val="E3DACB"/>
            </a:solidFill>
            <a:prstDash val="solid"/>
          </a:ln>
        </p:spPr>
      </p:sp>
      <p:sp>
        <p:nvSpPr>
          <p:cNvPr id="5" name="Text 3"/>
          <p:cNvSpPr/>
          <p:nvPr/>
        </p:nvSpPr>
        <p:spPr>
          <a:xfrm>
            <a:off x="970280" y="1960879"/>
            <a:ext cx="463721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11a</a:t>
            </a:r>
            <a:r>
              <a:rPr lang="en-US" sz="1200" dirty="0">
                <a:solidFill>
                  <a:srgbClr val="5E6672"/>
                </a:solidFill>
                <a:latin typeface="IBM Plex Sans" pitchFamily="34" charset="0"/>
                <a:ea typeface="IBM Plex Sans" pitchFamily="34" charset="-122"/>
                <a:cs typeface="IBM Plex Sans" pitchFamily="34" charset="-120"/>
              </a:rPr>
              <a:t> · Top 10 storms (blue: before 2016)</a:t>
            </a:r>
            <a:endParaRPr lang="en-US" sz="1200" dirty="0"/>
          </a:p>
        </p:txBody>
      </p:sp>
      <p:pic>
        <p:nvPicPr>
          <p:cNvPr id="6" name="Image 0" descr="Top 10 storms in 36 years by storm score: 7 are before 2016 (blue), most with under 10 mm of rain; 12 March 2020 has 48.5 mm">    </p:cNvPr>
          <p:cNvPicPr>
            <a:picLocks noChangeAspect="1"/>
          </p:cNvPicPr>
          <p:nvPr/>
        </p:nvPicPr>
        <p:blipFill>
          <a:blip r:embed="rId1"/>
          <a:srcRect l="-25" r="-25" t="0" b="0"/>
          <a:stretch/>
        </p:blipFill>
        <p:spPr>
          <a:xfrm>
            <a:off x="970280" y="2250442"/>
            <a:ext cx="4502150" cy="2730500"/>
          </a:xfrm>
          <a:prstGeom prst="rect">
            <a:avLst/>
          </a:prstGeom>
        </p:spPr>
      </p:pic>
      <p:sp>
        <p:nvSpPr>
          <p:cNvPr id="7" name="Shape 4"/>
          <p:cNvSpPr/>
          <p:nvPr/>
        </p:nvSpPr>
        <p:spPr>
          <a:xfrm>
            <a:off x="5785485" y="1831975"/>
            <a:ext cx="3318510" cy="4006850"/>
          </a:xfrm>
          <a:prstGeom prst="roundRect">
            <a:avLst>
              <a:gd name="adj" fmla="val 2201"/>
            </a:avLst>
          </a:prstGeom>
          <a:solidFill>
            <a:srgbClr val="FFFFFF"/>
          </a:solidFill>
          <a:ln w="6350">
            <a:solidFill>
              <a:srgbClr val="E3DACB"/>
            </a:solidFill>
            <a:prstDash val="solid"/>
          </a:ln>
        </p:spPr>
      </p:sp>
      <p:sp>
        <p:nvSpPr>
          <p:cNvPr id="8" name="Text 5"/>
          <p:cNvSpPr/>
          <p:nvPr/>
        </p:nvSpPr>
        <p:spPr>
          <a:xfrm>
            <a:off x="5939790" y="1960879"/>
            <a:ext cx="310019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11b</a:t>
            </a:r>
            <a:r>
              <a:rPr lang="en-US" sz="1200" dirty="0">
                <a:solidFill>
                  <a:srgbClr val="5E6672"/>
                </a:solidFill>
                <a:latin typeface="IBM Plex Sans" pitchFamily="34" charset="0"/>
                <a:ea typeface="IBM Plex Sans" pitchFamily="34" charset="-122"/>
                <a:cs typeface="IBM Plex Sans" pitchFamily="34" charset="-120"/>
              </a:rPr>
              <a:t> · Storm anatomy, ±7 days</a:t>
            </a:r>
            <a:endParaRPr lang="en-US" sz="1200" dirty="0"/>
          </a:p>
        </p:txBody>
      </p:sp>
      <p:pic>
        <p:nvPicPr>
          <p:cNvPr id="9" name="Image 1" descr="Seven days before and after two storms, 22 March 1991 and 12 March 2020: in both, pressure falls, temperature drops and humidity rises on the storm day; rain is 9.4 mm in 1991 and 48.5 mm in 2020">    </p:cNvPr>
          <p:cNvPicPr>
            <a:picLocks noChangeAspect="1"/>
          </p:cNvPicPr>
          <p:nvPr/>
        </p:nvPicPr>
        <p:blipFill>
          <a:blip r:embed="rId2"/>
          <a:srcRect l="-30" r="-30" t="0" b="0"/>
          <a:stretch/>
        </p:blipFill>
        <p:spPr>
          <a:xfrm>
            <a:off x="5939790" y="2250442"/>
            <a:ext cx="3009900" cy="2730500"/>
          </a:xfrm>
          <a:prstGeom prst="rect">
            <a:avLst/>
          </a:prstGeom>
        </p:spPr>
      </p:pic>
      <p:sp>
        <p:nvSpPr>
          <p:cNvPr id="10" name="Text 6"/>
          <p:cNvSpPr/>
          <p:nvPr/>
        </p:nvSpPr>
        <p:spPr>
          <a:xfrm>
            <a:off x="9259570" y="1828800"/>
            <a:ext cx="2183219"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7 of the 10</a:t>
            </a:r>
            <a:r>
              <a:rPr lang="en-US" sz="1200" dirty="0">
                <a:solidFill>
                  <a:srgbClr val="4A5563"/>
                </a:solidFill>
                <a:latin typeface="IBM Plex Sans" pitchFamily="34" charset="0"/>
                <a:ea typeface="IBM Plex Sans" pitchFamily="34" charset="-122"/>
                <a:cs typeface="IBM Plex Sans" pitchFamily="34" charset="-120"/>
              </a:rPr>
              <a:t> strongest storms were before 2016.</a:t>
            </a:r>
            <a:endParaRPr lang="en-US" sz="1200" dirty="0"/>
          </a:p>
        </p:txBody>
      </p:sp>
      <p:sp>
        <p:nvSpPr>
          <p:cNvPr id="11" name="Text 7"/>
          <p:cNvSpPr/>
          <p:nvPr/>
        </p:nvSpPr>
        <p:spPr>
          <a:xfrm>
            <a:off x="9259570" y="2369821"/>
            <a:ext cx="2183219"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Most bring little rain,</a:t>
            </a:r>
            <a:r>
              <a:rPr lang="en-US" sz="1200" dirty="0">
                <a:solidFill>
                  <a:srgbClr val="4A5563"/>
                </a:solidFill>
                <a:latin typeface="IBM Plex Sans" pitchFamily="34" charset="0"/>
                <a:ea typeface="IBM Plex Sans" pitchFamily="34" charset="-122"/>
                <a:cs typeface="IBM Plex Sans" pitchFamily="34" charset="-120"/>
              </a:rPr>
              <a:t> under 10 mm.</a:t>
            </a:r>
            <a:endParaRPr lang="en-US" sz="1200" dirty="0"/>
          </a:p>
        </p:txBody>
      </p:sp>
      <p:sp>
        <p:nvSpPr>
          <p:cNvPr id="12" name="Text 8"/>
          <p:cNvSpPr/>
          <p:nvPr/>
        </p:nvSpPr>
        <p:spPr>
          <a:xfrm>
            <a:off x="9259570" y="2910842"/>
            <a:ext cx="2183219"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Same steps:</a:t>
            </a:r>
            <a:r>
              <a:rPr lang="en-US" sz="1200" dirty="0">
                <a:solidFill>
                  <a:srgbClr val="4A5563"/>
                </a:solidFill>
                <a:latin typeface="IBM Plex Sans" pitchFamily="34" charset="0"/>
                <a:ea typeface="IBM Plex Sans" pitchFamily="34" charset="-122"/>
                <a:cs typeface="IBM Plex Sans" pitchFamily="34" charset="-120"/>
              </a:rPr>
              <a:t> pressure falls, humidity rises, temperature drops.</a:t>
            </a:r>
            <a:endParaRPr lang="en-US" sz="1200" dirty="0"/>
          </a:p>
        </p:txBody>
      </p:sp>
      <p:sp>
        <p:nvSpPr>
          <p:cNvPr id="13" name="Text 9"/>
          <p:cNvSpPr/>
          <p:nvPr/>
        </p:nvSpPr>
        <p:spPr>
          <a:xfrm>
            <a:off x="9259570" y="3665221"/>
            <a:ext cx="2183219"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01F"/>
                </a:solidFill>
                <a:latin typeface="IBM Plex Sans" pitchFamily="34" charset="0"/>
                <a:ea typeface="IBM Plex Sans" pitchFamily="34" charset="-122"/>
                <a:cs typeface="IBM Plex Sans" pitchFamily="34" charset="-120"/>
              </a:rPr>
              <a:t>12 Mar 2020:</a:t>
            </a:r>
            <a:r>
              <a:rPr lang="en-US" sz="1200" dirty="0">
                <a:solidFill>
                  <a:srgbClr val="4A5563"/>
                </a:solidFill>
                <a:latin typeface="IBM Plex Sans" pitchFamily="34" charset="0"/>
                <a:ea typeface="IBM Plex Sans" pitchFamily="34" charset="-122"/>
                <a:cs typeface="IBM Plex Sans" pitchFamily="34" charset="-120"/>
              </a:rPr>
              <a:t> ~5× more rain, and the 36-year pressure low.</a:t>
            </a:r>
            <a:endParaRPr lang="en-US" sz="1200" dirty="0"/>
          </a:p>
        </p:txBody>
      </p:sp>
      <p:sp>
        <p:nvSpPr>
          <p:cNvPr id="14" name="Text 10"/>
          <p:cNvSpPr/>
          <p:nvPr/>
        </p:nvSpPr>
        <p:spPr>
          <a:xfrm>
            <a:off x="812800" y="6238242"/>
            <a:ext cx="27037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15" name="Text 11"/>
          <p:cNvSpPr/>
          <p:nvPr/>
        </p:nvSpPr>
        <p:spPr>
          <a:xfrm>
            <a:off x="7753033" y="6238242"/>
            <a:ext cx="362616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11 / 15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H5 + H6 · SIGNALS AND KHAMASIN</a:t>
            </a:r>
            <a:endParaRPr lang="en-US" sz="1200" dirty="0"/>
          </a:p>
        </p:txBody>
      </p:sp>
      <p:sp>
        <p:nvSpPr>
          <p:cNvPr id="3" name="Text 1"/>
          <p:cNvSpPr/>
          <p:nvPr>
            <p:ph type="title"/>
          </p:nvPr>
        </p:nvSpPr>
        <p:spPr>
          <a:xfrm>
            <a:off x="812800" y="1127764"/>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Storms give no early warning; Khamasin days can be detected</a:t>
            </a:r>
            <a:endParaRPr lang="en-US" sz="3200" dirty="0"/>
          </a:p>
        </p:txBody>
      </p:sp>
      <p:sp>
        <p:nvSpPr>
          <p:cNvPr id="4" name="Text 2"/>
          <p:cNvSpPr/>
          <p:nvPr/>
        </p:nvSpPr>
        <p:spPr>
          <a:xfrm>
            <a:off x="812800" y="2250442"/>
            <a:ext cx="533704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733"/>
                </a:solidFill>
                <a:latin typeface="Source Serif 4" pitchFamily="18" charset="0"/>
                <a:ea typeface="Source Serif 4" pitchFamily="18" charset="-122"/>
                <a:cs typeface="Source Serif 4" pitchFamily="18" charset="-120"/>
              </a:rPr>
              <a:t>H5 · Signs before a storm? </a:t>
            </a:r>
            <a:r>
              <a:rPr lang="en-US" sz="1600" b="1" dirty="0">
                <a:solidFill>
                  <a:srgbClr val="C4501F"/>
                </a:solidFill>
                <a:latin typeface="Source Serif 4" pitchFamily="18" charset="0"/>
                <a:ea typeface="Source Serif 4" pitchFamily="18" charset="-122"/>
                <a:cs typeface="Source Serif 4" pitchFamily="18" charset="-120"/>
              </a:rPr>
              <a:t>Partly.</a:t>
            </a:r>
            <a:endParaRPr lang="en-US" sz="1600" dirty="0"/>
          </a:p>
        </p:txBody>
      </p:sp>
      <p:sp>
        <p:nvSpPr>
          <p:cNvPr id="5" name="Text 3"/>
          <p:cNvSpPr/>
          <p:nvPr/>
        </p:nvSpPr>
        <p:spPr>
          <a:xfrm>
            <a:off x="812800" y="2570479"/>
            <a:ext cx="533704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Heat waves and cold snaps build up over days; storms don’t. All links with a storm starting are tiny (−0.06 to +0.05).</a:t>
            </a:r>
            <a:endParaRPr lang="en-US" sz="1200" dirty="0"/>
          </a:p>
        </p:txBody>
      </p:sp>
      <p:sp>
        <p:nvSpPr>
          <p:cNvPr id="6" name="Shape 4"/>
          <p:cNvSpPr/>
          <p:nvPr/>
        </p:nvSpPr>
        <p:spPr>
          <a:xfrm>
            <a:off x="815975" y="3076575"/>
            <a:ext cx="5175250" cy="2211070"/>
          </a:xfrm>
          <a:prstGeom prst="roundRect">
            <a:avLst>
              <a:gd name="adj" fmla="val 3303"/>
            </a:avLst>
          </a:prstGeom>
          <a:solidFill>
            <a:srgbClr val="FFFFFF"/>
          </a:solidFill>
          <a:ln w="6350">
            <a:solidFill>
              <a:srgbClr val="E3DACB"/>
            </a:solidFill>
            <a:prstDash val="solid"/>
          </a:ln>
        </p:spPr>
      </p:sp>
      <p:sp>
        <p:nvSpPr>
          <p:cNvPr id="7" name="Text 5"/>
          <p:cNvSpPr/>
          <p:nvPr/>
        </p:nvSpPr>
        <p:spPr>
          <a:xfrm>
            <a:off x="970280" y="3205479"/>
            <a:ext cx="501263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12a</a:t>
            </a:r>
            <a:r>
              <a:rPr lang="en-US" sz="1200" dirty="0">
                <a:solidFill>
                  <a:srgbClr val="5E6672"/>
                </a:solidFill>
                <a:latin typeface="IBM Plex Sans" pitchFamily="34" charset="0"/>
                <a:ea typeface="IBM Plex Sans" pitchFamily="34" charset="-122"/>
                <a:cs typeface="IBM Plex Sans" pitchFamily="34" charset="-120"/>
              </a:rPr>
              <a:t> · Correlation with a storm, 1–7 days before</a:t>
            </a:r>
            <a:endParaRPr lang="en-US" sz="1200" dirty="0"/>
          </a:p>
        </p:txBody>
      </p:sp>
      <p:pic>
        <p:nvPicPr>
          <p:cNvPr id="8" name="Image 0" descr="Heatmap of correlations between pressure, humidity, max and min temperature and wind speed 1 to 7 days before, and a storm starting: all values between −0.06 and +0.05">    </p:cNvPr>
          <p:cNvPicPr>
            <a:picLocks noChangeAspect="1"/>
          </p:cNvPicPr>
          <p:nvPr/>
        </p:nvPicPr>
        <p:blipFill>
          <a:blip r:embed="rId1"/>
          <a:srcRect l="-19564" r="-19564" t="0" b="0"/>
          <a:stretch/>
        </p:blipFill>
        <p:spPr>
          <a:xfrm>
            <a:off x="970280" y="3495042"/>
            <a:ext cx="4876800" cy="1663700"/>
          </a:xfrm>
          <a:prstGeom prst="rect">
            <a:avLst/>
          </a:prstGeom>
        </p:spPr>
      </p:pic>
      <p:sp>
        <p:nvSpPr>
          <p:cNvPr id="9" name="Text 6"/>
          <p:cNvSpPr/>
          <p:nvPr/>
        </p:nvSpPr>
        <p:spPr>
          <a:xfrm>
            <a:off x="6197600" y="2250442"/>
            <a:ext cx="533704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733"/>
                </a:solidFill>
                <a:latin typeface="Source Serif 4" pitchFamily="18" charset="0"/>
                <a:ea typeface="Source Serif 4" pitchFamily="18" charset="-122"/>
                <a:cs typeface="Source Serif 4" pitchFamily="18" charset="-120"/>
              </a:rPr>
              <a:t>H6 · Khamasin-like days? </a:t>
            </a:r>
            <a:r>
              <a:rPr lang="en-US" sz="1600" b="1" dirty="0">
                <a:solidFill>
                  <a:srgbClr val="C4501F"/>
                </a:solidFill>
                <a:latin typeface="Source Serif 4" pitchFamily="18" charset="0"/>
                <a:ea typeface="Source Serif 4" pitchFamily="18" charset="-122"/>
                <a:cs typeface="Source Serif 4" pitchFamily="18" charset="-120"/>
              </a:rPr>
              <a:t>Yes.</a:t>
            </a:r>
            <a:endParaRPr lang="en-US" sz="1600" dirty="0"/>
          </a:p>
        </p:txBody>
      </p:sp>
      <p:sp>
        <p:nvSpPr>
          <p:cNvPr id="10" name="Text 7"/>
          <p:cNvSpPr/>
          <p:nvPr/>
        </p:nvSpPr>
        <p:spPr>
          <a:xfrm>
            <a:off x="6197600" y="2570479"/>
            <a:ext cx="533704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South wind, much hotter and much drier than normal: 125 days in 1990–2012, mostly December to April, with low pressure.</a:t>
            </a:r>
            <a:endParaRPr lang="en-US" sz="1200" dirty="0"/>
          </a:p>
        </p:txBody>
      </p:sp>
      <p:sp>
        <p:nvSpPr>
          <p:cNvPr id="11" name="Shape 8"/>
          <p:cNvSpPr/>
          <p:nvPr/>
        </p:nvSpPr>
        <p:spPr>
          <a:xfrm>
            <a:off x="6200775" y="3076575"/>
            <a:ext cx="5175250" cy="1734820"/>
          </a:xfrm>
          <a:prstGeom prst="roundRect">
            <a:avLst>
              <a:gd name="adj" fmla="val 4209"/>
            </a:avLst>
          </a:prstGeom>
          <a:solidFill>
            <a:srgbClr val="FFFFFF"/>
          </a:solidFill>
          <a:ln w="6350">
            <a:solidFill>
              <a:srgbClr val="E3DACB"/>
            </a:solidFill>
            <a:prstDash val="solid"/>
          </a:ln>
        </p:spPr>
      </p:sp>
      <p:sp>
        <p:nvSpPr>
          <p:cNvPr id="12" name="Text 9"/>
          <p:cNvSpPr/>
          <p:nvPr/>
        </p:nvSpPr>
        <p:spPr>
          <a:xfrm>
            <a:off x="6355080" y="3205479"/>
            <a:ext cx="501263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12b</a:t>
            </a:r>
            <a:r>
              <a:rPr lang="en-US" sz="1200" dirty="0">
                <a:solidFill>
                  <a:srgbClr val="5E6672"/>
                </a:solidFill>
                <a:latin typeface="IBM Plex Sans" pitchFamily="34" charset="0"/>
                <a:ea typeface="IBM Plex Sans" pitchFamily="34" charset="-122"/>
                <a:cs typeface="IBM Plex Sans" pitchFamily="34" charset="-120"/>
              </a:rPr>
              <a:t> · A: Khamasin-like days by month · B: the average one</a:t>
            </a:r>
            <a:endParaRPr lang="en-US" sz="1200" dirty="0"/>
          </a:p>
        </p:txBody>
      </p:sp>
      <p:pic>
        <p:nvPicPr>
          <p:cNvPr id="13" name="Image 1" descr="Left: Khamasin-like days by month 1990–2012, highest in January and March (25 each), none from July to September. Right: the average Khamasin-like day is about 2.2 std hotter, 2.4 std drier and 1.3 std lower in pressure than normal">    </p:cNvPr>
          <p:cNvPicPr>
            <a:picLocks noChangeAspect="1"/>
          </p:cNvPicPr>
          <p:nvPr/>
        </p:nvPicPr>
        <p:blipFill>
          <a:blip r:embed="rId2"/>
          <a:srcRect l="0" r="0" t="-62" b="-62"/>
          <a:stretch/>
        </p:blipFill>
        <p:spPr>
          <a:xfrm>
            <a:off x="6355080" y="3495042"/>
            <a:ext cx="4876800" cy="1187450"/>
          </a:xfrm>
          <a:prstGeom prst="rect">
            <a:avLst/>
          </a:prstGeom>
        </p:spPr>
      </p:pic>
      <p:sp>
        <p:nvSpPr>
          <p:cNvPr id="14" name="Text 10"/>
          <p:cNvSpPr/>
          <p:nvPr/>
        </p:nvSpPr>
        <p:spPr>
          <a:xfrm>
            <a:off x="6197600" y="4890771"/>
            <a:ext cx="5181600" cy="391160"/>
          </a:xfrm>
          <a:prstGeom prst="roundRect">
            <a:avLst>
              <a:gd name="adj" fmla="val 16234"/>
            </a:avLst>
          </a:prstGeom>
          <a:solidFill>
            <a:srgbClr val="E9E1D2"/>
          </a:solidFill>
          <a:ln/>
        </p:spPr>
        <p:txBody>
          <a:bodyPr wrap="square" lIns="121101" tIns="70301" rIns="0" bIns="44901"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Limit:</a:t>
            </a:r>
            <a:r>
              <a:rPr lang="en-US" sz="1200" dirty="0">
                <a:solidFill>
                  <a:srgbClr val="1B2733"/>
                </a:solidFill>
                <a:latin typeface="IBM Plex Sans" pitchFamily="34" charset="0"/>
                <a:ea typeface="IBM Plex Sans" pitchFamily="34" charset="-122"/>
                <a:cs typeface="IBM Plex Sans" pitchFamily="34" charset="-120"/>
              </a:rPr>
              <a:t> wind direction stops in 2012, so it can’t be a model feature.</a:t>
            </a:r>
            <a:endParaRPr lang="en-US" sz="1200" dirty="0"/>
          </a:p>
        </p:txBody>
      </p:sp>
      <p:sp>
        <p:nvSpPr>
          <p:cNvPr id="15" name="Text 11"/>
          <p:cNvSpPr/>
          <p:nvPr/>
        </p:nvSpPr>
        <p:spPr>
          <a:xfrm>
            <a:off x="812800" y="6238242"/>
            <a:ext cx="27037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16" name="Text 12"/>
          <p:cNvSpPr/>
          <p:nvPr/>
        </p:nvSpPr>
        <p:spPr>
          <a:xfrm>
            <a:off x="7753033" y="6238242"/>
            <a:ext cx="362616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12 / 15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8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FROM EDA TO MODEL</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Every finding becomes a modeling decision</a:t>
            </a:r>
            <a:endParaRPr lang="en-US" sz="3200" dirty="0"/>
          </a:p>
        </p:txBody>
      </p:sp>
      <p:sp>
        <p:nvSpPr>
          <p:cNvPr id="4" name="Shape 2"/>
          <p:cNvSpPr/>
          <p:nvPr/>
        </p:nvSpPr>
        <p:spPr>
          <a:xfrm>
            <a:off x="812800" y="1828800"/>
            <a:ext cx="10566400" cy="3583940"/>
          </a:xfrm>
          <a:prstGeom prst="roundRect">
            <a:avLst>
              <a:gd name="adj" fmla="val 2126"/>
            </a:avLst>
          </a:prstGeom>
          <a:solidFill>
            <a:srgbClr val="FFFFFF"/>
          </a:solidFill>
          <a:ln/>
        </p:spPr>
      </p:sp>
      <p:sp>
        <p:nvSpPr>
          <p:cNvPr id="5" name="Shape 3"/>
          <p:cNvSpPr/>
          <p:nvPr/>
        </p:nvSpPr>
        <p:spPr>
          <a:xfrm>
            <a:off x="812800" y="1828800"/>
            <a:ext cx="10566400" cy="3583940"/>
          </a:xfrm>
          <a:custGeom>
            <a:avLst/>
            <a:gdLst/>
            <a:ahLst/>
            <a:cxnLst/>
            <a:rect l="l" t="t" r="r" b="b"/>
            <a:pathLst>
              <a:path w="10566400" h="3583940">
                <a:moveTo>
                  <a:pt x="10490200" y="0"/>
                </a:moveTo>
                <a:lnTo>
                  <a:pt x="10490200" y="0"/>
                </a:lnTo>
                <a:arcTo hR="76200" wR="76200" stAng="16200000" swAng="5400000"/>
                <a:lnTo>
                  <a:pt x="10566400" y="3507740"/>
                </a:lnTo>
                <a:arcTo hR="76200" wR="76200" stAng="0" swAng="5400000"/>
                <a:lnTo>
                  <a:pt x="76200" y="3583940"/>
                </a:lnTo>
                <a:arcTo hR="76200" wR="76200" stAng="5400000" swAng="5400000"/>
                <a:lnTo>
                  <a:pt x="0" y="3507740"/>
                </a:lnTo>
                <a:arcTo hR="69850" wR="76200" stAng="10800000" swAng="-5400000"/>
                <a:lnTo>
                  <a:pt x="10490200" y="3577590"/>
                </a:lnTo>
                <a:arcTo hR="69850" wR="69850" stAng="5400000" swAng="-5400000"/>
                <a:lnTo>
                  <a:pt x="10560050" y="76200"/>
                </a:lnTo>
                <a:arcTo hR="76200" wR="69850" stAng="0" swAng="-5400000"/>
                <a:close/>
              </a:path>
            </a:pathLst>
          </a:custGeom>
          <a:solidFill>
            <a:srgbClr val="E3DACB"/>
          </a:solidFill>
          <a:ln/>
        </p:spPr>
      </p:sp>
      <p:sp>
        <p:nvSpPr>
          <p:cNvPr id="6" name="Shape 4"/>
          <p:cNvSpPr/>
          <p:nvPr/>
        </p:nvSpPr>
        <p:spPr>
          <a:xfrm>
            <a:off x="812800" y="1828800"/>
            <a:ext cx="10566400" cy="3583940"/>
          </a:xfrm>
          <a:custGeom>
            <a:avLst/>
            <a:gdLst/>
            <a:ahLst/>
            <a:cxnLst/>
            <a:rect l="l" t="t" r="r" b="b"/>
            <a:pathLst>
              <a:path w="10566400" h="3583940">
                <a:moveTo>
                  <a:pt x="76200" y="3583940"/>
                </a:moveTo>
                <a:lnTo>
                  <a:pt x="76200" y="3583940"/>
                </a:lnTo>
                <a:arcTo hR="76200" wR="76200" stAng="5400000" swAng="5400000"/>
                <a:lnTo>
                  <a:pt x="0" y="76200"/>
                </a:lnTo>
                <a:arcTo hR="76200" wR="76200" stAng="10800000" swAng="5400000"/>
                <a:lnTo>
                  <a:pt x="10490200" y="0"/>
                </a:lnTo>
                <a:arcTo hR="76200" wR="76200" stAng="16200000" swAng="5400000"/>
                <a:lnTo>
                  <a:pt x="10566400" y="76200"/>
                </a:lnTo>
                <a:arcTo hR="66040" wR="76200" stAng="0" swAng="-5400000"/>
                <a:lnTo>
                  <a:pt x="76200" y="10160"/>
                </a:lnTo>
                <a:arcTo hR="66040" wR="66040" stAng="16200000" swAng="-5400000"/>
                <a:lnTo>
                  <a:pt x="10160" y="3507740"/>
                </a:lnTo>
                <a:arcTo hR="76200" wR="6604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3568700"/>
        </p:xfrm>
        <a:graphic>
          <a:graphicData uri="http://schemas.openxmlformats.org/drawingml/2006/table">
            <a:tbl>
              <a:tblPr/>
              <a:tblGrid>
                <a:gridCol w="844093"/>
                <a:gridCol w="4853534"/>
                <a:gridCol w="4853534"/>
              </a:tblGrid>
              <a:tr h="356870">
                <a:tc>
                  <a:txBody>
                    <a:bodyPr/>
                    <a:lstStyle/>
                    <a:p>
                      <a:pPr indent="0" marL="0">
                        <a:lnSpc>
                          <a:spcPts val="1820"/>
                        </a:lnSpc>
                        <a:buNone/>
                      </a:pPr>
                      <a:r>
                        <a:rPr lang="en-US" sz="1300" b="1" dirty="0">
                          <a:solidFill>
                            <a:srgbClr val="F2945E"/>
                          </a:solidFill>
                          <a:latin typeface="IBM Plex Sans" pitchFamily="34" charset="0"/>
                          <a:ea typeface="IBM Plex Sans" pitchFamily="34" charset="-122"/>
                          <a:cs typeface="IBM Plex Sans" pitchFamily="34" charset="-120"/>
                        </a:rPr>
                        <a:t>Slide</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142231"/>
                      </a:solidFill>
                      <a:prstDash val="solid"/>
                      <a:round/>
                      <a:headEnd type="none" w="med" len="med"/>
                      <a:tailEnd type="none" w="med" len="med"/>
                    </a:lnR>
                    <a:lnT w="0" cap="flat" cmpd="sng" algn="ctr">
                      <a:noFill/>
                    </a:lnT>
                    <a:lnB w="12700" cap="flat" cmpd="sng" algn="ctr">
                      <a:solidFill>
                        <a:srgbClr val="142231"/>
                      </a:solidFill>
                      <a:prstDash val="solid"/>
                      <a:round/>
                      <a:headEnd type="none" w="med" len="med"/>
                      <a:tailEnd type="none" w="med" len="med"/>
                    </a:lnB>
                    <a:solidFill>
                      <a:srgbClr val="14263A"/>
                    </a:solidFill>
                  </a:tcPr>
                </a:tc>
                <a:tc>
                  <a:txBody>
                    <a:bodyPr/>
                    <a:lstStyle/>
                    <a:p>
                      <a:pPr indent="0" marL="0">
                        <a:lnSpc>
                          <a:spcPts val="1820"/>
                        </a:lnSpc>
                        <a:buNone/>
                      </a:pPr>
                      <a:r>
                        <a:rPr lang="en-US" sz="1300" b="1" dirty="0">
                          <a:solidFill>
                            <a:srgbClr val="F4EEE3"/>
                          </a:solidFill>
                          <a:latin typeface="IBM Plex Sans" pitchFamily="34" charset="0"/>
                          <a:ea typeface="IBM Plex Sans" pitchFamily="34" charset="-122"/>
                          <a:cs typeface="IBM Plex Sans" pitchFamily="34" charset="-120"/>
                        </a:rPr>
                        <a:t>What we found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2231"/>
                      </a:solidFill>
                      <a:prstDash val="solid"/>
                      <a:round/>
                      <a:headEnd type="none" w="med" len="med"/>
                      <a:tailEnd type="none" w="med" len="med"/>
                    </a:lnL>
                    <a:lnR w="12700" cap="flat" cmpd="sng" algn="ctr">
                      <a:solidFill>
                        <a:srgbClr val="142231"/>
                      </a:solidFill>
                      <a:prstDash val="solid"/>
                      <a:round/>
                      <a:headEnd type="none" w="med" len="med"/>
                      <a:tailEnd type="none" w="med" len="med"/>
                    </a:lnR>
                    <a:lnT w="0" cap="flat" cmpd="sng" algn="ctr">
                      <a:noFill/>
                    </a:lnT>
                    <a:lnB w="12700" cap="flat" cmpd="sng" algn="ctr">
                      <a:solidFill>
                        <a:srgbClr val="142231"/>
                      </a:solidFill>
                      <a:prstDash val="solid"/>
                      <a:round/>
                      <a:headEnd type="none" w="med" len="med"/>
                      <a:tailEnd type="none" w="med" len="med"/>
                    </a:lnB>
                    <a:solidFill>
                      <a:srgbClr val="14263A"/>
                    </a:solidFill>
                  </a:tcPr>
                </a:tc>
                <a:tc>
                  <a:txBody>
                    <a:bodyPr/>
                    <a:lstStyle/>
                    <a:p>
                      <a:pPr indent="0" marL="0">
                        <a:lnSpc>
                          <a:spcPts val="1820"/>
                        </a:lnSpc>
                        <a:buNone/>
                      </a:pPr>
                      <a:r>
                        <a:rPr lang="en-US" sz="1300" b="1" dirty="0">
                          <a:solidFill>
                            <a:srgbClr val="F4EEE3"/>
                          </a:solidFill>
                          <a:latin typeface="IBM Plex Sans" pitchFamily="34" charset="0"/>
                          <a:ea typeface="IBM Plex Sans" pitchFamily="34" charset="-122"/>
                          <a:cs typeface="IBM Plex Sans" pitchFamily="34" charset="-120"/>
                        </a:rPr>
                        <a:t>What we 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2231"/>
                      </a:solidFill>
                      <a:prstDash val="solid"/>
                      <a:round/>
                      <a:headEnd type="none" w="med" len="med"/>
                      <a:tailEnd type="none" w="med" len="med"/>
                    </a:lnL>
                    <a:lnR w="12700" cap="flat" cmpd="sng" algn="ctr">
                      <a:solidFill>
                        <a:srgbClr val="142231"/>
                      </a:solidFill>
                      <a:prstDash val="solid"/>
                      <a:round/>
                      <a:headEnd type="none" w="med" len="med"/>
                      <a:tailEnd type="none" w="med" len="med"/>
                    </a:lnR>
                    <a:lnT w="0" cap="flat" cmpd="sng" algn="ctr">
                      <a:noFill/>
                    </a:lnT>
                    <a:lnB w="12700" cap="flat" cmpd="sng" algn="ctr">
                      <a:solidFill>
                        <a:srgbClr val="142231"/>
                      </a:solidFill>
                      <a:prstDash val="solid"/>
                      <a:round/>
                      <a:headEnd type="none" w="med" len="med"/>
                      <a:tailEnd type="none" w="med" len="med"/>
                    </a:lnB>
                    <a:solidFill>
                      <a:srgbClr val="14263A"/>
                    </a:solidFill>
                  </a:tcPr>
                </a:tc>
              </a:tr>
              <a:tr h="356870">
                <a:tc>
                  <a:txBody>
                    <a:bodyPr/>
                    <a:lstStyle/>
                    <a:p>
                      <a:pPr indent="0" marL="0">
                        <a:lnSpc>
                          <a:spcPts val="1820"/>
                        </a:lnSpc>
                        <a:buNone/>
                      </a:pPr>
                      <a:r>
                        <a:rPr lang="en-US" sz="1300" dirty="0">
                          <a:solidFill>
                            <a:srgbClr val="5E6672"/>
                          </a:solidFill>
                          <a:latin typeface="IBM Plex Sans" pitchFamily="34" charset="0"/>
                          <a:ea typeface="IBM Plex Sans" pitchFamily="34" charset="-122"/>
                          <a:cs typeface="IBM Plex Sans" pitchFamily="34" charset="-120"/>
                        </a:rPr>
                        <a:t>5, 9</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4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B2733"/>
                          </a:solidFill>
                          <a:latin typeface="IBM Plex Sans" pitchFamily="34" charset="0"/>
                          <a:ea typeface="IBM Plex Sans" pitchFamily="34" charset="-122"/>
                          <a:cs typeface="IBM Plex Sans" pitchFamily="34" charset="-120"/>
                        </a:rPr>
                        <a:t>A strong, fixed yearly season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B2733"/>
                          </a:solidFill>
                          <a:latin typeface="IBM Plex Sans" pitchFamily="34" charset="0"/>
                          <a:ea typeface="IBM Plex Sans" pitchFamily="34" charset="-122"/>
                          <a:cs typeface="IBM Plex Sans" pitchFamily="34" charset="-120"/>
                        </a:rPr>
                        <a:t>Day of year as sine and cosine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5E6672"/>
                          </a:solidFill>
                          <a:latin typeface="IBM Plex Sans" pitchFamily="34" charset="0"/>
                          <a:ea typeface="IBM Plex Sans" pitchFamily="34" charset="-122"/>
                          <a:cs typeface="IBM Plex Sans" pitchFamily="34" charset="-120"/>
                        </a:rPr>
                        <a:t>9</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3BEB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EB5"/>
                      </a:solidFill>
                      <a:prstDash val="solid"/>
                      <a:round/>
                      <a:headEnd type="none" w="med" len="med"/>
                      <a:tailEnd type="none" w="med" len="med"/>
                    </a:lnB>
                    <a:solidFill>
                      <a:srgbClr val="F4EEE3"/>
                    </a:solidFill>
                  </a:tcPr>
                </a:tc>
                <a:tc>
                  <a:txBody>
                    <a:bodyPr/>
                    <a:lstStyle/>
                    <a:p>
                      <a:pPr indent="0" marL="0">
                        <a:lnSpc>
                          <a:spcPts val="1820"/>
                        </a:lnSpc>
                        <a:buNone/>
                      </a:pPr>
                      <a:r>
                        <a:rPr lang="en-US" sz="1300" dirty="0">
                          <a:solidFill>
                            <a:srgbClr val="1B2733"/>
                          </a:solidFill>
                          <a:latin typeface="IBM Plex Sans" pitchFamily="34" charset="0"/>
                          <a:ea typeface="IBM Plex Sans" pitchFamily="34" charset="-122"/>
                          <a:cs typeface="IBM Plex Sans" pitchFamily="34" charset="-120"/>
                        </a:rPr>
                        <a:t>Temperature returns to its level (ADF)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BEB5"/>
                      </a:solidFill>
                      <a:prstDash val="solid"/>
                      <a:round/>
                      <a:headEnd type="none" w="med" len="med"/>
                      <a:tailEnd type="none" w="med" len="med"/>
                    </a:lnL>
                    <a:lnR w="12700" cap="flat" cmpd="sng" algn="ctr">
                      <a:solidFill>
                        <a:srgbClr val="C3BEB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EB5"/>
                      </a:solidFill>
                      <a:prstDash val="solid"/>
                      <a:round/>
                      <a:headEnd type="none" w="med" len="med"/>
                      <a:tailEnd type="none" w="med" len="med"/>
                    </a:lnB>
                    <a:solidFill>
                      <a:srgbClr val="F4EEE3"/>
                    </a:solidFill>
                  </a:tcPr>
                </a:tc>
                <a:tc>
                  <a:txBody>
                    <a:bodyPr/>
                    <a:lstStyle/>
                    <a:p>
                      <a:pPr indent="0" marL="0">
                        <a:lnSpc>
                          <a:spcPts val="1820"/>
                        </a:lnSpc>
                        <a:buNone/>
                      </a:pPr>
                      <a:r>
                        <a:rPr lang="en-US" sz="1300" dirty="0">
                          <a:solidFill>
                            <a:srgbClr val="1B2733"/>
                          </a:solidFill>
                          <a:latin typeface="IBM Plex Sans" pitchFamily="34" charset="0"/>
                          <a:ea typeface="IBM Plex Sans" pitchFamily="34" charset="-122"/>
                          <a:cs typeface="IBM Plex Sans" pitchFamily="34" charset="-120"/>
                        </a:rPr>
                        <a:t>No differencing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BEB5"/>
                      </a:solidFill>
                      <a:prstDash val="solid"/>
                      <a:round/>
                      <a:headEnd type="none" w="med" len="med"/>
                      <a:tailEnd type="none" w="med" len="med"/>
                    </a:lnL>
                    <a:lnR w="12700" cap="flat" cmpd="sng" algn="ctr">
                      <a:solidFill>
                        <a:srgbClr val="C3BEB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EB5"/>
                      </a:solidFill>
                      <a:prstDash val="solid"/>
                      <a:round/>
                      <a:headEnd type="none" w="med" len="med"/>
                      <a:tailEnd type="none" w="med" len="med"/>
                    </a:lnB>
                    <a:solidFill>
                      <a:srgbClr val="F4EEE3"/>
                    </a:solidFill>
                  </a:tcPr>
                </a:tc>
              </a:tr>
              <a:tr h="356870">
                <a:tc>
                  <a:txBody>
                    <a:bodyPr/>
                    <a:lstStyle/>
                    <a:p>
                      <a:pPr indent="0" marL="0">
                        <a:lnSpc>
                          <a:spcPts val="1820"/>
                        </a:lnSpc>
                        <a:buNone/>
                      </a:pPr>
                      <a:r>
                        <a:rPr lang="en-US" sz="1300" dirty="0">
                          <a:solidFill>
                            <a:srgbClr val="5E6672"/>
                          </a:solidFill>
                          <a:latin typeface="IBM Plex Sans" pitchFamily="34" charset="0"/>
                          <a:ea typeface="IBM Plex Sans" pitchFamily="34" charset="-122"/>
                          <a:cs typeface="IBM Plex Sans" pitchFamily="34" charset="-120"/>
                        </a:rPr>
                        <a:t>10</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BEB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B2733"/>
                          </a:solidFill>
                          <a:latin typeface="IBM Plex Sans" pitchFamily="34" charset="0"/>
                          <a:ea typeface="IBM Plex Sans" pitchFamily="34" charset="-122"/>
                          <a:cs typeface="IBM Plex Sans" pitchFamily="34" charset="-120"/>
                        </a:rPr>
                        <a:t>Only the last few days help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EB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B2733"/>
                          </a:solidFill>
                          <a:latin typeface="IBM Plex Sans" pitchFamily="34" charset="0"/>
                          <a:ea typeface="IBM Plex Sans" pitchFamily="34" charset="-122"/>
                          <a:cs typeface="IBM Plex Sans" pitchFamily="34" charset="-120"/>
                        </a:rPr>
                        <a:t>Lags 1–5; no lag 365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EB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5E6672"/>
                          </a:solidFill>
                          <a:latin typeface="IBM Plex Sans" pitchFamily="34" charset="0"/>
                          <a:ea typeface="IBM Plex Sans" pitchFamily="34" charset="-122"/>
                          <a:cs typeface="IBM Plex Sans" pitchFamily="34" charset="-120"/>
                        </a:rPr>
                        <a:t>6</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3BEB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EB5"/>
                      </a:solidFill>
                      <a:prstDash val="solid"/>
                      <a:round/>
                      <a:headEnd type="none" w="med" len="med"/>
                      <a:tailEnd type="none" w="med" len="med"/>
                    </a:lnB>
                    <a:solidFill>
                      <a:srgbClr val="F4EEE3"/>
                    </a:solidFill>
                  </a:tcPr>
                </a:tc>
                <a:tc>
                  <a:txBody>
                    <a:bodyPr/>
                    <a:lstStyle/>
                    <a:p>
                      <a:pPr indent="0" marL="0">
                        <a:lnSpc>
                          <a:spcPts val="1820"/>
                        </a:lnSpc>
                        <a:buNone/>
                      </a:pPr>
                      <a:r>
                        <a:rPr lang="en-US" sz="1300" dirty="0">
                          <a:solidFill>
                            <a:srgbClr val="1B2733"/>
                          </a:solidFill>
                          <a:latin typeface="IBM Plex Sans" pitchFamily="34" charset="0"/>
                          <a:ea typeface="IBM Plex Sans" pitchFamily="34" charset="-122"/>
                          <a:cs typeface="IBM Plex Sans" pitchFamily="34" charset="-120"/>
                        </a:rPr>
                        <a:t>Slow warming; test years are warmest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BEB5"/>
                      </a:solidFill>
                      <a:prstDash val="solid"/>
                      <a:round/>
                      <a:headEnd type="none" w="med" len="med"/>
                      <a:tailEnd type="none" w="med" len="med"/>
                    </a:lnL>
                    <a:lnR w="12700" cap="flat" cmpd="sng" algn="ctr">
                      <a:solidFill>
                        <a:srgbClr val="C3BEB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EB5"/>
                      </a:solidFill>
                      <a:prstDash val="solid"/>
                      <a:round/>
                      <a:headEnd type="none" w="med" len="med"/>
                      <a:tailEnd type="none" w="med" len="med"/>
                    </a:lnB>
                    <a:solidFill>
                      <a:srgbClr val="F4EEE3"/>
                    </a:solidFill>
                  </a:tcPr>
                </a:tc>
                <a:tc>
                  <a:txBody>
                    <a:bodyPr/>
                    <a:lstStyle/>
                    <a:p>
                      <a:pPr indent="0" marL="0">
                        <a:lnSpc>
                          <a:spcPts val="1820"/>
                        </a:lnSpc>
                        <a:buNone/>
                      </a:pPr>
                      <a:r>
                        <a:rPr lang="en-US" sz="1300" dirty="0">
                          <a:solidFill>
                            <a:srgbClr val="1B2733"/>
                          </a:solidFill>
                          <a:latin typeface="IBM Plex Sans" pitchFamily="34" charset="0"/>
                          <a:ea typeface="IBM Plex Sans" pitchFamily="34" charset="-122"/>
                          <a:cs typeface="IBM Plex Sans" pitchFamily="34" charset="-120"/>
                        </a:rPr>
                        <a:t>Watch for a cold bias on test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BEB5"/>
                      </a:solidFill>
                      <a:prstDash val="solid"/>
                      <a:round/>
                      <a:headEnd type="none" w="med" len="med"/>
                      <a:tailEnd type="none" w="med" len="med"/>
                    </a:lnL>
                    <a:lnR w="12700" cap="flat" cmpd="sng" algn="ctr">
                      <a:solidFill>
                        <a:srgbClr val="C3BEB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EB5"/>
                      </a:solidFill>
                      <a:prstDash val="solid"/>
                      <a:round/>
                      <a:headEnd type="none" w="med" len="med"/>
                      <a:tailEnd type="none" w="med" len="med"/>
                    </a:lnB>
                    <a:solidFill>
                      <a:srgbClr val="F4EEE3"/>
                    </a:solidFill>
                  </a:tcPr>
                </a:tc>
              </a:tr>
              <a:tr h="356870">
                <a:tc>
                  <a:txBody>
                    <a:bodyPr/>
                    <a:lstStyle/>
                    <a:p>
                      <a:pPr indent="0" marL="0">
                        <a:lnSpc>
                          <a:spcPts val="1820"/>
                        </a:lnSpc>
                        <a:buNone/>
                      </a:pPr>
                      <a:r>
                        <a:rPr lang="en-US" sz="1300" dirty="0">
                          <a:solidFill>
                            <a:srgbClr val="5E6672"/>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BEB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B2733"/>
                          </a:solidFill>
                          <a:latin typeface="IBM Plex Sans" pitchFamily="34" charset="0"/>
                          <a:ea typeface="IBM Plex Sans" pitchFamily="34" charset="-122"/>
                          <a:cs typeface="IBM Plex Sans" pitchFamily="34" charset="-120"/>
                        </a:rPr>
                        <a:t>Spring is the most unstable season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EB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B2733"/>
                          </a:solidFill>
                          <a:latin typeface="IBM Plex Sans" pitchFamily="34" charset="0"/>
                          <a:ea typeface="IBM Plex Sans" pitchFamily="34" charset="-122"/>
                          <a:cs typeface="IBM Plex Sans" pitchFamily="34" charset="-120"/>
                        </a:rPr>
                        <a:t>Report errors by month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EB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5E6672"/>
                          </a:solidFill>
                          <a:latin typeface="IBM Plex Sans" pitchFamily="34" charset="0"/>
                          <a:ea typeface="IBM Plex Sans" pitchFamily="34" charset="-122"/>
                          <a:cs typeface="IBM Plex Sans" pitchFamily="34" charset="-120"/>
                        </a:rPr>
                        <a:t>5, 11</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3BEB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EB5"/>
                      </a:solidFill>
                      <a:prstDash val="solid"/>
                      <a:round/>
                      <a:headEnd type="none" w="med" len="med"/>
                      <a:tailEnd type="none" w="med" len="med"/>
                    </a:lnB>
                    <a:solidFill>
                      <a:srgbClr val="F4EEE3"/>
                    </a:solidFill>
                  </a:tcPr>
                </a:tc>
                <a:tc>
                  <a:txBody>
                    <a:bodyPr/>
                    <a:lstStyle/>
                    <a:p>
                      <a:pPr indent="0" marL="0">
                        <a:lnSpc>
                          <a:spcPts val="1820"/>
                        </a:lnSpc>
                        <a:buNone/>
                      </a:pPr>
                      <a:r>
                        <a:rPr lang="en-US" sz="1300" dirty="0">
                          <a:solidFill>
                            <a:srgbClr val="1B2733"/>
                          </a:solidFill>
                          <a:latin typeface="IBM Plex Sans" pitchFamily="34" charset="0"/>
                          <a:ea typeface="IBM Plex Sans" pitchFamily="34" charset="-122"/>
                          <a:cs typeface="IBM Plex Sans" pitchFamily="34" charset="-120"/>
                        </a:rPr>
                        <a:t>Humidity and pressure add information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BEB5"/>
                      </a:solidFill>
                      <a:prstDash val="solid"/>
                      <a:round/>
                      <a:headEnd type="none" w="med" len="med"/>
                      <a:tailEnd type="none" w="med" len="med"/>
                    </a:lnL>
                    <a:lnR w="12700" cap="flat" cmpd="sng" algn="ctr">
                      <a:solidFill>
                        <a:srgbClr val="C3BEB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EB5"/>
                      </a:solidFill>
                      <a:prstDash val="solid"/>
                      <a:round/>
                      <a:headEnd type="none" w="med" len="med"/>
                      <a:tailEnd type="none" w="med" len="med"/>
                    </a:lnB>
                    <a:solidFill>
                      <a:srgbClr val="F4EEE3"/>
                    </a:solidFill>
                  </a:tcPr>
                </a:tc>
                <a:tc>
                  <a:txBody>
                    <a:bodyPr/>
                    <a:lstStyle/>
                    <a:p>
                      <a:pPr indent="0" marL="0">
                        <a:lnSpc>
                          <a:spcPts val="1820"/>
                        </a:lnSpc>
                        <a:buNone/>
                      </a:pPr>
                      <a:r>
                        <a:rPr lang="en-US" sz="1300" dirty="0">
                          <a:solidFill>
                            <a:srgbClr val="1B2733"/>
                          </a:solidFill>
                          <a:latin typeface="IBM Plex Sans" pitchFamily="34" charset="0"/>
                          <a:ea typeface="IBM Plex Sans" pitchFamily="34" charset="-122"/>
                          <a:cs typeface="IBM Plex Sans" pitchFamily="34" charset="-120"/>
                        </a:rPr>
                        <a:t>Use them as inputs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BEB5"/>
                      </a:solidFill>
                      <a:prstDash val="solid"/>
                      <a:round/>
                      <a:headEnd type="none" w="med" len="med"/>
                      <a:tailEnd type="none" w="med" len="med"/>
                    </a:lnL>
                    <a:lnR w="12700" cap="flat" cmpd="sng" algn="ctr">
                      <a:solidFill>
                        <a:srgbClr val="C3BEB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EB5"/>
                      </a:solidFill>
                      <a:prstDash val="solid"/>
                      <a:round/>
                      <a:headEnd type="none" w="med" len="med"/>
                      <a:tailEnd type="none" w="med" len="med"/>
                    </a:lnB>
                    <a:solidFill>
                      <a:srgbClr val="F4EEE3"/>
                    </a:solidFill>
                  </a:tcPr>
                </a:tc>
              </a:tr>
              <a:tr h="356870">
                <a:tc>
                  <a:txBody>
                    <a:bodyPr/>
                    <a:lstStyle/>
                    <a:p>
                      <a:pPr indent="0" marL="0">
                        <a:lnSpc>
                          <a:spcPts val="1820"/>
                        </a:lnSpc>
                        <a:buNone/>
                      </a:pPr>
                      <a:r>
                        <a:rPr lang="en-US" sz="1300" dirty="0">
                          <a:solidFill>
                            <a:srgbClr val="5E6672"/>
                          </a:solidFill>
                          <a:latin typeface="IBM Plex Sans" pitchFamily="34" charset="0"/>
                          <a:ea typeface="IBM Plex Sans" pitchFamily="34" charset="-122"/>
                          <a:cs typeface="IBM Plex Sans" pitchFamily="34" charset="-120"/>
                        </a:rPr>
                        <a:t>8</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BEB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B2733"/>
                          </a:solidFill>
                          <a:latin typeface="IBM Plex Sans" pitchFamily="34" charset="0"/>
                          <a:ea typeface="IBM Plex Sans" pitchFamily="34" charset="-122"/>
                          <a:cs typeface="IBM Plex Sans" pitchFamily="34" charset="-120"/>
                        </a:rPr>
                        <a:t>Rain is rare and changed in 2016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EB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B2733"/>
                          </a:solidFill>
                          <a:latin typeface="IBM Plex Sans" pitchFamily="34" charset="0"/>
                          <a:ea typeface="IBM Plex Sans" pitchFamily="34" charset="-122"/>
                          <a:cs typeface="IBM Plex Sans" pitchFamily="34" charset="-120"/>
                        </a:rPr>
                        <a:t>Rain yes/no on 2016–2025, F1 and CSI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EB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5E6672"/>
                          </a:solidFill>
                          <a:latin typeface="IBM Plex Sans" pitchFamily="34" charset="0"/>
                          <a:ea typeface="IBM Plex Sans" pitchFamily="34" charset="-122"/>
                          <a:cs typeface="IBM Plex Sans" pitchFamily="34" charset="-120"/>
                        </a:rPr>
                        <a:t>4, 12</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3BEB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EB5"/>
                      </a:solidFill>
                      <a:prstDash val="solid"/>
                      <a:round/>
                      <a:headEnd type="none" w="med" len="med"/>
                      <a:tailEnd type="none" w="med" len="med"/>
                    </a:lnB>
                    <a:solidFill>
                      <a:srgbClr val="F4EEE3"/>
                    </a:solidFill>
                  </a:tcPr>
                </a:tc>
                <a:tc>
                  <a:txBody>
                    <a:bodyPr/>
                    <a:lstStyle/>
                    <a:p>
                      <a:pPr indent="0" marL="0">
                        <a:lnSpc>
                          <a:spcPts val="1820"/>
                        </a:lnSpc>
                        <a:buNone/>
                      </a:pPr>
                      <a:r>
                        <a:rPr lang="en-US" sz="1300" dirty="0">
                          <a:solidFill>
                            <a:srgbClr val="1B2733"/>
                          </a:solidFill>
                          <a:latin typeface="IBM Plex Sans" pitchFamily="34" charset="0"/>
                          <a:ea typeface="IBM Plex Sans" pitchFamily="34" charset="-122"/>
                          <a:cs typeface="IBM Plex Sans" pitchFamily="34" charset="-120"/>
                        </a:rPr>
                        <a:t>Wind direction stops in 2012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BEB5"/>
                      </a:solidFill>
                      <a:prstDash val="solid"/>
                      <a:round/>
                      <a:headEnd type="none" w="med" len="med"/>
                      <a:tailEnd type="none" w="med" len="med"/>
                    </a:lnL>
                    <a:lnR w="12700" cap="flat" cmpd="sng" algn="ctr">
                      <a:solidFill>
                        <a:srgbClr val="C3BEB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EB5"/>
                      </a:solidFill>
                      <a:prstDash val="solid"/>
                      <a:round/>
                      <a:headEnd type="none" w="med" len="med"/>
                      <a:tailEnd type="none" w="med" len="med"/>
                    </a:lnB>
                    <a:solidFill>
                      <a:srgbClr val="F4EEE3"/>
                    </a:solidFill>
                  </a:tcPr>
                </a:tc>
                <a:tc>
                  <a:txBody>
                    <a:bodyPr/>
                    <a:lstStyle/>
                    <a:p>
                      <a:pPr indent="0" marL="0">
                        <a:lnSpc>
                          <a:spcPts val="1820"/>
                        </a:lnSpc>
                        <a:buNone/>
                      </a:pPr>
                      <a:r>
                        <a:rPr lang="en-US" sz="1300" dirty="0">
                          <a:solidFill>
                            <a:srgbClr val="1B2733"/>
                          </a:solidFill>
                          <a:latin typeface="IBM Plex Sans" pitchFamily="34" charset="0"/>
                          <a:ea typeface="IBM Plex Sans" pitchFamily="34" charset="-122"/>
                          <a:cs typeface="IBM Plex Sans" pitchFamily="34" charset="-120"/>
                        </a:rPr>
                        <a:t>Not used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BEB5"/>
                      </a:solidFill>
                      <a:prstDash val="solid"/>
                      <a:round/>
                      <a:headEnd type="none" w="med" len="med"/>
                      <a:tailEnd type="none" w="med" len="med"/>
                    </a:lnL>
                    <a:lnR w="12700" cap="flat" cmpd="sng" algn="ctr">
                      <a:solidFill>
                        <a:srgbClr val="C3BEB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BEB5"/>
                      </a:solidFill>
                      <a:prstDash val="solid"/>
                      <a:round/>
                      <a:headEnd type="none" w="med" len="med"/>
                      <a:tailEnd type="none" w="med" len="med"/>
                    </a:lnB>
                    <a:solidFill>
                      <a:srgbClr val="F4EEE3"/>
                    </a:solidFill>
                  </a:tcPr>
                </a:tc>
              </a:tr>
              <a:tr h="356870">
                <a:tc>
                  <a:txBody>
                    <a:bodyPr/>
                    <a:lstStyle/>
                    <a:p>
                      <a:pPr indent="0" marL="0">
                        <a:lnSpc>
                          <a:spcPts val="1820"/>
                        </a:lnSpc>
                        <a:buNone/>
                      </a:pPr>
                      <a:r>
                        <a:rPr lang="en-US" sz="1300" dirty="0">
                          <a:solidFill>
                            <a:srgbClr val="5E6672"/>
                          </a:solidFill>
                          <a:latin typeface="IBM Plex Sans" pitchFamily="34" charset="0"/>
                          <a:ea typeface="IBM Plex Sans" pitchFamily="34" charset="-122"/>
                          <a:cs typeface="IBM Plex Sans" pitchFamily="34" charset="-120"/>
                        </a:rPr>
                        <a:t>11</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BEB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B2733"/>
                          </a:solidFill>
                          <a:latin typeface="IBM Plex Sans" pitchFamily="34" charset="0"/>
                          <a:ea typeface="IBM Plex Sans" pitchFamily="34" charset="-122"/>
                          <a:cs typeface="IBM Plex Sans" pitchFamily="34" charset="-120"/>
                        </a:rPr>
                        <a:t>Extreme days are real weather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EB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B2733"/>
                          </a:solidFill>
                          <a:latin typeface="IBM Plex Sans" pitchFamily="34" charset="0"/>
                          <a:ea typeface="IBM Plex Sans" pitchFamily="34" charset="-122"/>
                          <a:cs typeface="IBM Plex Sans" pitchFamily="34" charset="-120"/>
                        </a:rPr>
                        <a:t>Keep them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BEB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6238242"/>
            <a:ext cx="27037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9" name="Text 6"/>
          <p:cNvSpPr/>
          <p:nvPr/>
        </p:nvSpPr>
        <p:spPr>
          <a:xfrm>
            <a:off x="7753033" y="6238242"/>
            <a:ext cx="362616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13 / 15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01F"/>
                </a:solidFill>
                <a:latin typeface="IBM Plex Sans" pitchFamily="34" charset="0"/>
                <a:ea typeface="IBM Plex Sans" pitchFamily="34" charset="-122"/>
                <a:cs typeface="IBM Plex Sans" pitchFamily="34" charset="-120"/>
              </a:rPr>
              <a:t>BASELINES AND NEXT STEPS</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733"/>
                </a:solidFill>
                <a:latin typeface="Source Serif 4" pitchFamily="18" charset="0"/>
                <a:ea typeface="Source Serif 4" pitchFamily="18" charset="-122"/>
                <a:cs typeface="Source Serif 4" pitchFamily="18" charset="-120"/>
              </a:rPr>
              <a:t>The number to beat: 1.05 °C</a:t>
            </a:r>
            <a:endParaRPr lang="en-US" sz="3200" dirty="0"/>
          </a:p>
        </p:txBody>
      </p:sp>
      <p:sp>
        <p:nvSpPr>
          <p:cNvPr id="4" name="Shape 2"/>
          <p:cNvSpPr/>
          <p:nvPr/>
        </p:nvSpPr>
        <p:spPr>
          <a:xfrm>
            <a:off x="815975" y="1831975"/>
            <a:ext cx="6216650" cy="2119630"/>
          </a:xfrm>
          <a:prstGeom prst="roundRect">
            <a:avLst>
              <a:gd name="adj" fmla="val 3445"/>
            </a:avLst>
          </a:prstGeom>
          <a:solidFill>
            <a:srgbClr val="FFFFFF"/>
          </a:solidFill>
          <a:ln w="6350">
            <a:solidFill>
              <a:srgbClr val="E3DACB"/>
            </a:solidFill>
            <a:prstDash val="solid"/>
          </a:ln>
        </p:spPr>
      </p:sp>
      <p:sp>
        <p:nvSpPr>
          <p:cNvPr id="5" name="Text 3"/>
          <p:cNvSpPr/>
          <p:nvPr/>
        </p:nvSpPr>
        <p:spPr>
          <a:xfrm>
            <a:off x="982980" y="1973579"/>
            <a:ext cx="605911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Fig. 14</a:t>
            </a:r>
            <a:r>
              <a:rPr lang="en-US" sz="1200" dirty="0">
                <a:solidFill>
                  <a:srgbClr val="5E6672"/>
                </a:solidFill>
                <a:latin typeface="IBM Plex Sans" pitchFamily="34" charset="0"/>
                <a:ea typeface="IBM Plex Sans" pitchFamily="34" charset="-122"/>
                <a:cs typeface="IBM Plex Sans" pitchFamily="34" charset="-120"/>
              </a:rPr>
              <a:t> · Temperature tomorrow: MAE of simple baselines (°C, lower is better)</a:t>
            </a:r>
            <a:endParaRPr lang="en-US" sz="1200" dirty="0"/>
          </a:p>
        </p:txBody>
      </p:sp>
      <p:sp>
        <p:nvSpPr>
          <p:cNvPr id="6" name="Text 4"/>
          <p:cNvSpPr/>
          <p:nvPr/>
        </p:nvSpPr>
        <p:spPr>
          <a:xfrm>
            <a:off x="982980" y="2289814"/>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733"/>
                </a:solidFill>
                <a:latin typeface="IBM Plex Sans" pitchFamily="34" charset="0"/>
                <a:ea typeface="IBM Plex Sans" pitchFamily="34" charset="-122"/>
                <a:cs typeface="IBM Plex Sans" pitchFamily="34" charset="-120"/>
              </a:rPr>
              <a:t>Persistence (today)</a:t>
            </a:r>
            <a:endParaRPr lang="en-US" sz="1200" dirty="0"/>
          </a:p>
        </p:txBody>
      </p:sp>
      <p:sp>
        <p:nvSpPr>
          <p:cNvPr id="7" name="Shape 5"/>
          <p:cNvSpPr/>
          <p:nvPr/>
        </p:nvSpPr>
        <p:spPr>
          <a:xfrm>
            <a:off x="2989580" y="2275842"/>
            <a:ext cx="1098550" cy="101600"/>
          </a:xfrm>
          <a:prstGeom prst="roundRect">
            <a:avLst>
              <a:gd name="adj" fmla="val 18750"/>
            </a:avLst>
          </a:prstGeom>
          <a:solidFill>
            <a:srgbClr val="E8A27F"/>
          </a:solidFill>
          <a:ln/>
        </p:spPr>
      </p:sp>
      <p:sp>
        <p:nvSpPr>
          <p:cNvPr id="8" name="Shape 6"/>
          <p:cNvSpPr/>
          <p:nvPr/>
        </p:nvSpPr>
        <p:spPr>
          <a:xfrm>
            <a:off x="2989580" y="2415542"/>
            <a:ext cx="1066800" cy="101600"/>
          </a:xfrm>
          <a:prstGeom prst="roundRect">
            <a:avLst>
              <a:gd name="adj" fmla="val 18750"/>
            </a:avLst>
          </a:prstGeom>
          <a:solidFill>
            <a:srgbClr val="C4501F"/>
          </a:solidFill>
          <a:ln/>
        </p:spPr>
      </p:sp>
      <p:sp>
        <p:nvSpPr>
          <p:cNvPr id="9" name="Text 7"/>
          <p:cNvSpPr/>
          <p:nvPr/>
        </p:nvSpPr>
        <p:spPr>
          <a:xfrm>
            <a:off x="5707380" y="2289814"/>
            <a:ext cx="100330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C4501F"/>
                </a:solidFill>
                <a:latin typeface="IBM Plex Sans" pitchFamily="34" charset="0"/>
                <a:ea typeface="IBM Plex Sans" pitchFamily="34" charset="-122"/>
                <a:cs typeface="IBM Plex Sans" pitchFamily="34" charset="-120"/>
              </a:rPr>
              <a:t>1.07 · 1.04</a:t>
            </a:r>
            <a:endParaRPr lang="en-US" sz="1200" dirty="0"/>
          </a:p>
        </p:txBody>
      </p:sp>
      <p:sp>
        <p:nvSpPr>
          <p:cNvPr id="10" name="Text 8"/>
          <p:cNvSpPr/>
          <p:nvPr/>
        </p:nvSpPr>
        <p:spPr>
          <a:xfrm>
            <a:off x="982980" y="2620014"/>
            <a:ext cx="19621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733"/>
                </a:solidFill>
                <a:latin typeface="IBM Plex Sans" pitchFamily="34" charset="0"/>
                <a:ea typeface="IBM Plex Sans" pitchFamily="34" charset="-122"/>
                <a:cs typeface="IBM Plex Sans" pitchFamily="34" charset="-120"/>
              </a:rPr>
              <a:t>Mean of last 7 days</a:t>
            </a:r>
            <a:endParaRPr lang="en-US" sz="1200" dirty="0"/>
          </a:p>
        </p:txBody>
      </p:sp>
      <p:sp>
        <p:nvSpPr>
          <p:cNvPr id="11" name="Shape 9"/>
          <p:cNvSpPr/>
          <p:nvPr/>
        </p:nvSpPr>
        <p:spPr>
          <a:xfrm>
            <a:off x="2989580" y="2606042"/>
            <a:ext cx="1631950" cy="101600"/>
          </a:xfrm>
          <a:prstGeom prst="roundRect">
            <a:avLst>
              <a:gd name="adj" fmla="val 18750"/>
            </a:avLst>
          </a:prstGeom>
          <a:solidFill>
            <a:srgbClr val="A9C1E3"/>
          </a:solidFill>
          <a:ln/>
        </p:spPr>
      </p:sp>
      <p:sp>
        <p:nvSpPr>
          <p:cNvPr id="12" name="Shape 10"/>
          <p:cNvSpPr/>
          <p:nvPr/>
        </p:nvSpPr>
        <p:spPr>
          <a:xfrm>
            <a:off x="2989580" y="2745742"/>
            <a:ext cx="1581150" cy="101600"/>
          </a:xfrm>
          <a:prstGeom prst="roundRect">
            <a:avLst>
              <a:gd name="adj" fmla="val 18750"/>
            </a:avLst>
          </a:prstGeom>
          <a:solidFill>
            <a:srgbClr val="2563B0"/>
          </a:solidFill>
          <a:ln/>
        </p:spPr>
      </p:sp>
      <p:sp>
        <p:nvSpPr>
          <p:cNvPr id="13" name="Text 11"/>
          <p:cNvSpPr/>
          <p:nvPr/>
        </p:nvSpPr>
        <p:spPr>
          <a:xfrm>
            <a:off x="5707380" y="2620014"/>
            <a:ext cx="1003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B2733"/>
                </a:solidFill>
                <a:latin typeface="IBM Plex Sans" pitchFamily="34" charset="0"/>
                <a:ea typeface="IBM Plex Sans" pitchFamily="34" charset="-122"/>
                <a:cs typeface="IBM Plex Sans" pitchFamily="34" charset="-120"/>
              </a:rPr>
              <a:t>1.59 · 1.54</a:t>
            </a:r>
            <a:endParaRPr lang="en-US" sz="1200" dirty="0"/>
          </a:p>
        </p:txBody>
      </p:sp>
      <p:sp>
        <p:nvSpPr>
          <p:cNvPr id="14" name="Text 12"/>
          <p:cNvSpPr/>
          <p:nvPr/>
        </p:nvSpPr>
        <p:spPr>
          <a:xfrm>
            <a:off x="982980" y="2950214"/>
            <a:ext cx="19621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733"/>
                </a:solidFill>
                <a:latin typeface="IBM Plex Sans" pitchFamily="34" charset="0"/>
                <a:ea typeface="IBM Plex Sans" pitchFamily="34" charset="-122"/>
                <a:cs typeface="IBM Plex Sans" pitchFamily="34" charset="-120"/>
              </a:rPr>
              <a:t>Climatology (date normal)</a:t>
            </a:r>
            <a:endParaRPr lang="en-US" sz="1200" dirty="0"/>
          </a:p>
        </p:txBody>
      </p:sp>
      <p:sp>
        <p:nvSpPr>
          <p:cNvPr id="15" name="Shape 13"/>
          <p:cNvSpPr/>
          <p:nvPr/>
        </p:nvSpPr>
        <p:spPr>
          <a:xfrm>
            <a:off x="2989580" y="2936242"/>
            <a:ext cx="1885950" cy="101600"/>
          </a:xfrm>
          <a:prstGeom prst="roundRect">
            <a:avLst>
              <a:gd name="adj" fmla="val 18750"/>
            </a:avLst>
          </a:prstGeom>
          <a:solidFill>
            <a:srgbClr val="A9C1E3"/>
          </a:solidFill>
          <a:ln/>
        </p:spPr>
      </p:sp>
      <p:sp>
        <p:nvSpPr>
          <p:cNvPr id="16" name="Shape 14"/>
          <p:cNvSpPr/>
          <p:nvPr/>
        </p:nvSpPr>
        <p:spPr>
          <a:xfrm>
            <a:off x="2989580" y="3075942"/>
            <a:ext cx="1835150" cy="101600"/>
          </a:xfrm>
          <a:prstGeom prst="roundRect">
            <a:avLst>
              <a:gd name="adj" fmla="val 18750"/>
            </a:avLst>
          </a:prstGeom>
          <a:solidFill>
            <a:srgbClr val="2563B0"/>
          </a:solidFill>
          <a:ln/>
        </p:spPr>
      </p:sp>
      <p:sp>
        <p:nvSpPr>
          <p:cNvPr id="17" name="Text 15"/>
          <p:cNvSpPr/>
          <p:nvPr/>
        </p:nvSpPr>
        <p:spPr>
          <a:xfrm>
            <a:off x="5707380" y="2950214"/>
            <a:ext cx="1003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B2733"/>
                </a:solidFill>
                <a:latin typeface="IBM Plex Sans" pitchFamily="34" charset="0"/>
                <a:ea typeface="IBM Plex Sans" pitchFamily="34" charset="-122"/>
                <a:cs typeface="IBM Plex Sans" pitchFamily="34" charset="-120"/>
              </a:rPr>
              <a:t>1.84 · 1.79</a:t>
            </a:r>
            <a:endParaRPr lang="en-US" sz="1200" dirty="0"/>
          </a:p>
        </p:txBody>
      </p:sp>
      <p:sp>
        <p:nvSpPr>
          <p:cNvPr id="18" name="Text 16"/>
          <p:cNvSpPr/>
          <p:nvPr/>
        </p:nvSpPr>
        <p:spPr>
          <a:xfrm>
            <a:off x="982980" y="3280414"/>
            <a:ext cx="19621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733"/>
                </a:solidFill>
                <a:latin typeface="IBM Plex Sans" pitchFamily="34" charset="0"/>
                <a:ea typeface="IBM Plex Sans" pitchFamily="34" charset="-122"/>
                <a:cs typeface="IBM Plex Sans" pitchFamily="34" charset="-120"/>
              </a:rPr>
              <a:t>Same day last year</a:t>
            </a:r>
            <a:endParaRPr lang="en-US" sz="1200" dirty="0"/>
          </a:p>
        </p:txBody>
      </p:sp>
      <p:sp>
        <p:nvSpPr>
          <p:cNvPr id="19" name="Shape 17"/>
          <p:cNvSpPr/>
          <p:nvPr/>
        </p:nvSpPr>
        <p:spPr>
          <a:xfrm>
            <a:off x="2989580" y="3266442"/>
            <a:ext cx="2622550" cy="101600"/>
          </a:xfrm>
          <a:prstGeom prst="roundRect">
            <a:avLst>
              <a:gd name="adj" fmla="val 18750"/>
            </a:avLst>
          </a:prstGeom>
          <a:solidFill>
            <a:srgbClr val="A9C1E3"/>
          </a:solidFill>
          <a:ln/>
        </p:spPr>
      </p:sp>
      <p:sp>
        <p:nvSpPr>
          <p:cNvPr id="20" name="Shape 18"/>
          <p:cNvSpPr/>
          <p:nvPr/>
        </p:nvSpPr>
        <p:spPr>
          <a:xfrm>
            <a:off x="2989580" y="3406142"/>
            <a:ext cx="2330450" cy="101600"/>
          </a:xfrm>
          <a:prstGeom prst="roundRect">
            <a:avLst>
              <a:gd name="adj" fmla="val 18750"/>
            </a:avLst>
          </a:prstGeom>
          <a:solidFill>
            <a:srgbClr val="2563B0"/>
          </a:solidFill>
          <a:ln/>
        </p:spPr>
      </p:sp>
      <p:sp>
        <p:nvSpPr>
          <p:cNvPr id="21" name="Text 19"/>
          <p:cNvSpPr/>
          <p:nvPr/>
        </p:nvSpPr>
        <p:spPr>
          <a:xfrm>
            <a:off x="5707380" y="3280414"/>
            <a:ext cx="1003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B2733"/>
                </a:solidFill>
                <a:latin typeface="IBM Plex Sans" pitchFamily="34" charset="0"/>
                <a:ea typeface="IBM Plex Sans" pitchFamily="34" charset="-122"/>
                <a:cs typeface="IBM Plex Sans" pitchFamily="34" charset="-120"/>
              </a:rPr>
              <a:t>2.56 · 2.27</a:t>
            </a:r>
            <a:endParaRPr lang="en-US" sz="1200" dirty="0"/>
          </a:p>
        </p:txBody>
      </p:sp>
      <p:sp>
        <p:nvSpPr>
          <p:cNvPr id="22" name="Shape 20"/>
          <p:cNvSpPr/>
          <p:nvPr/>
        </p:nvSpPr>
        <p:spPr>
          <a:xfrm>
            <a:off x="982980" y="3652521"/>
            <a:ext cx="152400" cy="101600"/>
          </a:xfrm>
          <a:prstGeom prst="roundRect">
            <a:avLst>
              <a:gd name="adj" fmla="val 18750"/>
            </a:avLst>
          </a:prstGeom>
          <a:solidFill>
            <a:srgbClr val="A9C1E3"/>
          </a:solidFill>
          <a:ln/>
        </p:spPr>
      </p:sp>
      <p:sp>
        <p:nvSpPr>
          <p:cNvPr id="23" name="Text 21"/>
          <p:cNvSpPr/>
          <p:nvPr/>
        </p:nvSpPr>
        <p:spPr>
          <a:xfrm>
            <a:off x="1211580" y="3596642"/>
            <a:ext cx="14328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Validation 2020–22</a:t>
            </a:r>
            <a:endParaRPr lang="en-US" sz="1200" dirty="0"/>
          </a:p>
        </p:txBody>
      </p:sp>
      <p:sp>
        <p:nvSpPr>
          <p:cNvPr id="24" name="Shape 22"/>
          <p:cNvSpPr/>
          <p:nvPr/>
        </p:nvSpPr>
        <p:spPr>
          <a:xfrm>
            <a:off x="2644458" y="3652521"/>
            <a:ext cx="152400" cy="101600"/>
          </a:xfrm>
          <a:prstGeom prst="roundRect">
            <a:avLst>
              <a:gd name="adj" fmla="val 18750"/>
            </a:avLst>
          </a:prstGeom>
          <a:solidFill>
            <a:srgbClr val="2563B0"/>
          </a:solidFill>
          <a:ln/>
        </p:spPr>
      </p:sp>
      <p:sp>
        <p:nvSpPr>
          <p:cNvPr id="25" name="Text 23"/>
          <p:cNvSpPr/>
          <p:nvPr/>
        </p:nvSpPr>
        <p:spPr>
          <a:xfrm>
            <a:off x="2873058" y="3596642"/>
            <a:ext cx="31821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Test 2023–25 (trained on 1990–2019)</a:t>
            </a:r>
            <a:endParaRPr lang="en-US" sz="1200" dirty="0"/>
          </a:p>
        </p:txBody>
      </p:sp>
      <p:sp>
        <p:nvSpPr>
          <p:cNvPr id="26" name="Shape 24"/>
          <p:cNvSpPr/>
          <p:nvPr/>
        </p:nvSpPr>
        <p:spPr>
          <a:xfrm>
            <a:off x="815975" y="4059554"/>
            <a:ext cx="6216650" cy="1779270"/>
          </a:xfrm>
          <a:prstGeom prst="roundRect">
            <a:avLst>
              <a:gd name="adj" fmla="val 4104"/>
            </a:avLst>
          </a:prstGeom>
          <a:solidFill>
            <a:srgbClr val="FFFFFF"/>
          </a:solidFill>
          <a:ln w="6350">
            <a:solidFill>
              <a:srgbClr val="E3DACB"/>
            </a:solidFill>
            <a:prstDash val="solid"/>
          </a:ln>
        </p:spPr>
      </p:sp>
      <p:sp>
        <p:nvSpPr>
          <p:cNvPr id="27" name="Text 25"/>
          <p:cNvSpPr/>
          <p:nvPr/>
        </p:nvSpPr>
        <p:spPr>
          <a:xfrm>
            <a:off x="982980" y="4445000"/>
            <a:ext cx="605911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672"/>
                </a:solidFill>
                <a:latin typeface="IBM Plex Sans" pitchFamily="34" charset="0"/>
                <a:ea typeface="IBM Plex Sans" pitchFamily="34" charset="-122"/>
                <a:cs typeface="IBM Plex Sans" pitchFamily="34" charset="-120"/>
              </a:rPr>
              <a:t>RAIN TOMORROW (2016–2025)</a:t>
            </a:r>
            <a:endParaRPr lang="en-US" sz="1200" dirty="0"/>
          </a:p>
        </p:txBody>
      </p:sp>
      <p:sp>
        <p:nvSpPr>
          <p:cNvPr id="28" name="Text 26"/>
          <p:cNvSpPr/>
          <p:nvPr/>
        </p:nvSpPr>
        <p:spPr>
          <a:xfrm>
            <a:off x="982980" y="4709164"/>
            <a:ext cx="605911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3"/>
                </a:solidFill>
                <a:latin typeface="IBM Plex Sans" pitchFamily="34" charset="0"/>
                <a:ea typeface="IBM Plex Sans" pitchFamily="34" charset="-122"/>
                <a:cs typeface="IBM Plex Sans" pitchFamily="34" charset="-120"/>
              </a:rPr>
              <a:t>“Always no rain”: 94–96 % accurate, yet </a:t>
            </a:r>
            <a:r>
              <a:rPr lang="en-US" sz="1300" b="1" dirty="0">
                <a:solidFill>
                  <a:srgbClr val="4A5563"/>
                </a:solidFill>
                <a:latin typeface="IBM Plex Sans" pitchFamily="34" charset="0"/>
                <a:ea typeface="IBM Plex Sans" pitchFamily="34" charset="-122"/>
                <a:cs typeface="IBM Plex Sans" pitchFamily="34" charset="-120"/>
              </a:rPr>
              <a:t>0 rain days caught</a:t>
            </a:r>
            <a:r>
              <a:rPr lang="en-US" sz="1300" dirty="0">
                <a:solidFill>
                  <a:srgbClr val="4A5563"/>
                </a:solidFill>
                <a:latin typeface="IBM Plex Sans" pitchFamily="34" charset="0"/>
                <a:ea typeface="IBM Plex Sans" pitchFamily="34" charset="-122"/>
                <a:cs typeface="IBM Plex Sans" pitchFamily="34" charset="-120"/>
              </a:rPr>
              <a:t>, so accuracy is not used.</a:t>
            </a:r>
            <a:endParaRPr lang="en-US" sz="1300" dirty="0"/>
          </a:p>
        </p:txBody>
      </p:sp>
      <p:sp>
        <p:nvSpPr>
          <p:cNvPr id="29" name="Text 27"/>
          <p:cNvSpPr/>
          <p:nvPr/>
        </p:nvSpPr>
        <p:spPr>
          <a:xfrm>
            <a:off x="982980" y="5222242"/>
            <a:ext cx="605911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733"/>
                </a:solidFill>
                <a:latin typeface="IBM Plex Sans" pitchFamily="34" charset="0"/>
                <a:ea typeface="IBM Plex Sans" pitchFamily="34" charset="-122"/>
                <a:cs typeface="IBM Plex Sans" pitchFamily="34" charset="-120"/>
              </a:rPr>
              <a:t>Persistence (rain today): F1 0.36 validation, 0.47 test.</a:t>
            </a:r>
            <a:endParaRPr lang="en-US" sz="1300" dirty="0"/>
          </a:p>
        </p:txBody>
      </p:sp>
      <p:sp>
        <p:nvSpPr>
          <p:cNvPr id="30" name="Shape 28"/>
          <p:cNvSpPr/>
          <p:nvPr/>
        </p:nvSpPr>
        <p:spPr>
          <a:xfrm>
            <a:off x="7239000" y="1828800"/>
            <a:ext cx="4140200" cy="4013200"/>
          </a:xfrm>
          <a:prstGeom prst="roundRect">
            <a:avLst>
              <a:gd name="adj" fmla="val 1899"/>
            </a:avLst>
          </a:prstGeom>
          <a:solidFill>
            <a:srgbClr val="14263A"/>
          </a:solidFill>
          <a:ln/>
        </p:spPr>
      </p:sp>
      <p:sp>
        <p:nvSpPr>
          <p:cNvPr id="31" name="Text 29"/>
          <p:cNvSpPr/>
          <p:nvPr/>
        </p:nvSpPr>
        <p:spPr>
          <a:xfrm>
            <a:off x="7442200" y="2006600"/>
            <a:ext cx="384581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45E"/>
                </a:solidFill>
                <a:latin typeface="IBM Plex Sans" pitchFamily="34" charset="0"/>
                <a:ea typeface="IBM Plex Sans" pitchFamily="34" charset="-122"/>
                <a:cs typeface="IBM Plex Sans" pitchFamily="34" charset="-120"/>
              </a:rPr>
              <a:t>NEXT STEPS</a:t>
            </a:r>
            <a:endParaRPr lang="en-US" sz="1200" dirty="0"/>
          </a:p>
        </p:txBody>
      </p:sp>
      <p:sp>
        <p:nvSpPr>
          <p:cNvPr id="32" name="Text 30"/>
          <p:cNvSpPr/>
          <p:nvPr/>
        </p:nvSpPr>
        <p:spPr>
          <a:xfrm>
            <a:off x="7442200" y="2308864"/>
            <a:ext cx="3845814"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EEE3"/>
                </a:solidFill>
                <a:latin typeface="IBM Plex Sans" pitchFamily="34" charset="0"/>
                <a:ea typeface="IBM Plex Sans" pitchFamily="34" charset="-122"/>
                <a:cs typeface="IBM Plex Sans" pitchFamily="34" charset="-120"/>
              </a:rPr>
              <a:t>1 · Data:</a:t>
            </a:r>
            <a:r>
              <a:rPr lang="en-US" sz="1200" dirty="0">
                <a:solidFill>
                  <a:srgbClr val="BFCBD8"/>
                </a:solidFill>
                <a:latin typeface="IBM Plex Sans" pitchFamily="34" charset="0"/>
                <a:ea typeface="IBM Plex Sans" pitchFamily="34" charset="-122"/>
                <a:cs typeface="IBM Plex Sans" pitchFamily="34" charset="-120"/>
              </a:rPr>
              <a:t> same variables from Open-Meteo, so training and live data match</a:t>
            </a:r>
            <a:endParaRPr lang="en-US" sz="1200" dirty="0"/>
          </a:p>
        </p:txBody>
      </p:sp>
      <p:sp>
        <p:nvSpPr>
          <p:cNvPr id="33" name="Text 31"/>
          <p:cNvSpPr/>
          <p:nvPr/>
        </p:nvSpPr>
        <p:spPr>
          <a:xfrm>
            <a:off x="7442200" y="2824479"/>
            <a:ext cx="3845814"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EEE3"/>
                </a:solidFill>
                <a:latin typeface="IBM Plex Sans" pitchFamily="34" charset="0"/>
                <a:ea typeface="IBM Plex Sans" pitchFamily="34" charset="-122"/>
                <a:cs typeface="IBM Plex Sans" pitchFamily="34" charset="-120"/>
              </a:rPr>
              <a:t>2 · Features:</a:t>
            </a:r>
            <a:r>
              <a:rPr lang="en-US" sz="1200" dirty="0">
                <a:solidFill>
                  <a:srgbClr val="BFCBD8"/>
                </a:solidFill>
                <a:latin typeface="IBM Plex Sans" pitchFamily="34" charset="0"/>
                <a:ea typeface="IBM Plex Sans" pitchFamily="34" charset="-122"/>
                <a:cs typeface="IBM Plex Sans" pitchFamily="34" charset="-120"/>
              </a:rPr>
              <a:t> day of year (sin, cos), last 1–5 days, humidity, pressure</a:t>
            </a:r>
            <a:endParaRPr lang="en-US" sz="1200" dirty="0"/>
          </a:p>
        </p:txBody>
      </p:sp>
      <p:sp>
        <p:nvSpPr>
          <p:cNvPr id="34" name="Text 32"/>
          <p:cNvSpPr/>
          <p:nvPr/>
        </p:nvSpPr>
        <p:spPr>
          <a:xfrm>
            <a:off x="7442200" y="3340100"/>
            <a:ext cx="3845814"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EEE3"/>
                </a:solidFill>
                <a:latin typeface="IBM Plex Sans" pitchFamily="34" charset="0"/>
                <a:ea typeface="IBM Plex Sans" pitchFamily="34" charset="-122"/>
                <a:cs typeface="IBM Plex Sans" pitchFamily="34" charset="-120"/>
              </a:rPr>
              <a:t>3 · Models:</a:t>
            </a:r>
            <a:r>
              <a:rPr lang="en-US" sz="1200" dirty="0">
                <a:solidFill>
                  <a:srgbClr val="BFCBD8"/>
                </a:solidFill>
                <a:latin typeface="IBM Plex Sans" pitchFamily="34" charset="0"/>
                <a:ea typeface="IBM Plex Sans" pitchFamily="34" charset="-122"/>
                <a:cs typeface="IBM Plex Sans" pitchFamily="34" charset="-120"/>
              </a:rPr>
              <a:t> Ridge, gradient boosting, SARIMAX; logistic regression for rain</a:t>
            </a:r>
            <a:endParaRPr lang="en-US" sz="1200" dirty="0"/>
          </a:p>
        </p:txBody>
      </p:sp>
      <p:sp>
        <p:nvSpPr>
          <p:cNvPr id="35" name="Text 33"/>
          <p:cNvSpPr/>
          <p:nvPr/>
        </p:nvSpPr>
        <p:spPr>
          <a:xfrm>
            <a:off x="7442200" y="3855721"/>
            <a:ext cx="3845814"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EEE3"/>
                </a:solidFill>
                <a:latin typeface="IBM Plex Sans" pitchFamily="34" charset="0"/>
                <a:ea typeface="IBM Plex Sans" pitchFamily="34" charset="-122"/>
                <a:cs typeface="IBM Plex Sans" pitchFamily="34" charset="-120"/>
              </a:rPr>
              <a:t>4 · Validation:</a:t>
            </a:r>
            <a:r>
              <a:rPr lang="en-US" sz="1200" dirty="0">
                <a:solidFill>
                  <a:srgbClr val="BFCBD8"/>
                </a:solidFill>
                <a:latin typeface="IBM Plex Sans" pitchFamily="34" charset="0"/>
                <a:ea typeface="IBM Plex Sans" pitchFamily="34" charset="-122"/>
                <a:cs typeface="IBM Plex Sans" pitchFamily="34" charset="-120"/>
              </a:rPr>
              <a:t> walk-forward, one year at a time; test used once</a:t>
            </a:r>
            <a:endParaRPr lang="en-US" sz="1200" dirty="0"/>
          </a:p>
        </p:txBody>
      </p:sp>
      <p:sp>
        <p:nvSpPr>
          <p:cNvPr id="36" name="Text 34"/>
          <p:cNvSpPr/>
          <p:nvPr/>
        </p:nvSpPr>
        <p:spPr>
          <a:xfrm>
            <a:off x="7442200" y="4371342"/>
            <a:ext cx="3845814"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EEE3"/>
                </a:solidFill>
                <a:latin typeface="IBM Plex Sans" pitchFamily="34" charset="0"/>
                <a:ea typeface="IBM Plex Sans" pitchFamily="34" charset="-122"/>
                <a:cs typeface="IBM Plex Sans" pitchFamily="34" charset="-120"/>
              </a:rPr>
              <a:t>5 · Deploy</a:t>
            </a:r>
            <a:r>
              <a:rPr lang="en-US" sz="1200" dirty="0">
                <a:solidFill>
                  <a:srgbClr val="BFCBD8"/>
                </a:solidFill>
                <a:latin typeface="IBM Plex Sans" pitchFamily="34" charset="0"/>
                <a:ea typeface="IBM Plex Sans" pitchFamily="34" charset="-122"/>
                <a:cs typeface="IBM Plex Sans" pitchFamily="34" charset="-120"/>
              </a:rPr>
              <a:t> only if a model clearly beats these baselines</a:t>
            </a:r>
            <a:endParaRPr lang="en-US" sz="1200" dirty="0"/>
          </a:p>
        </p:txBody>
      </p:sp>
      <p:sp>
        <p:nvSpPr>
          <p:cNvPr id="37" name="Text 35"/>
          <p:cNvSpPr/>
          <p:nvPr/>
        </p:nvSpPr>
        <p:spPr>
          <a:xfrm>
            <a:off x="812800" y="6238242"/>
            <a:ext cx="27037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38" name="Text 36"/>
          <p:cNvSpPr/>
          <p:nvPr/>
        </p:nvSpPr>
        <p:spPr>
          <a:xfrm>
            <a:off x="7753033" y="6238242"/>
            <a:ext cx="362616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 NASA POWER, 1990–2025 · 14 / 15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6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45E"/>
                </a:solidFill>
                <a:latin typeface="IBM Plex Sans" pitchFamily="34" charset="0"/>
                <a:ea typeface="IBM Plex Sans" pitchFamily="34" charset="-122"/>
                <a:cs typeface="IBM Plex Sans" pitchFamily="34" charset="-120"/>
              </a:rPr>
              <a:t>CONCLUSION</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EEE3"/>
                </a:solidFill>
                <a:latin typeface="Source Serif 4" pitchFamily="18" charset="0"/>
                <a:ea typeface="Source Serif 4" pitchFamily="18" charset="-122"/>
                <a:cs typeface="Source Serif 4" pitchFamily="18" charset="-120"/>
              </a:rPr>
              <a:t>The calendar and yesterday carry most of the signal</a:t>
            </a:r>
            <a:endParaRPr lang="en-US" sz="3200" dirty="0"/>
          </a:p>
        </p:txBody>
      </p:sp>
      <p:sp>
        <p:nvSpPr>
          <p:cNvPr id="4" name="Text 2"/>
          <p:cNvSpPr/>
          <p:nvPr/>
        </p:nvSpPr>
        <p:spPr>
          <a:xfrm>
            <a:off x="812800" y="1854200"/>
            <a:ext cx="593967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45E"/>
                </a:solidFill>
                <a:latin typeface="IBM Plex Sans" pitchFamily="34" charset="0"/>
                <a:ea typeface="IBM Plex Sans" pitchFamily="34" charset="-122"/>
                <a:cs typeface="IBM Plex Sans" pitchFamily="34" charset="-120"/>
              </a:rPr>
              <a:t>WHAT WE LEARNED</a:t>
            </a:r>
            <a:endParaRPr lang="en-US" sz="1200" dirty="0"/>
          </a:p>
        </p:txBody>
      </p:sp>
      <p:sp>
        <p:nvSpPr>
          <p:cNvPr id="5" name="Text 3"/>
          <p:cNvSpPr/>
          <p:nvPr/>
        </p:nvSpPr>
        <p:spPr>
          <a:xfrm>
            <a:off x="812800" y="2181864"/>
            <a:ext cx="593967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EEE3"/>
                </a:solidFill>
                <a:latin typeface="IBM Plex Sans" pitchFamily="34" charset="0"/>
                <a:ea typeface="IBM Plex Sans" pitchFamily="34" charset="-122"/>
                <a:cs typeface="IBM Plex Sans" pitchFamily="34" charset="-120"/>
              </a:rPr>
              <a:t>Season dominates:</a:t>
            </a:r>
            <a:r>
              <a:rPr lang="en-US" sz="1300" dirty="0">
                <a:solidFill>
                  <a:srgbClr val="BFCBD8"/>
                </a:solidFill>
                <a:latin typeface="IBM Plex Sans" pitchFamily="34" charset="0"/>
                <a:ea typeface="IBM Plex Sans" pitchFamily="34" charset="-122"/>
                <a:cs typeface="IBM Plex Sans" pitchFamily="34" charset="-120"/>
              </a:rPr>
              <a:t> a ~19 °C swing; nights warm +0.41 °C per decade.</a:t>
            </a:r>
            <a:endParaRPr lang="en-US" sz="1300" dirty="0"/>
          </a:p>
        </p:txBody>
      </p:sp>
      <p:sp>
        <p:nvSpPr>
          <p:cNvPr id="6" name="Text 4"/>
          <p:cNvSpPr/>
          <p:nvPr/>
        </p:nvSpPr>
        <p:spPr>
          <a:xfrm>
            <a:off x="812800" y="2527300"/>
            <a:ext cx="593967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EEE3"/>
                </a:solidFill>
                <a:latin typeface="IBM Plex Sans" pitchFamily="34" charset="0"/>
                <a:ea typeface="IBM Plex Sans" pitchFamily="34" charset="-122"/>
                <a:cs typeface="IBM Plex Sans" pitchFamily="34" charset="-120"/>
              </a:rPr>
              <a:t>Short memory:</a:t>
            </a:r>
            <a:r>
              <a:rPr lang="en-US" sz="1300" dirty="0">
                <a:solidFill>
                  <a:srgbClr val="BFCBD8"/>
                </a:solidFill>
                <a:latin typeface="IBM Plex Sans" pitchFamily="34" charset="0"/>
                <a:ea typeface="IBM Plex Sans" pitchFamily="34" charset="-122"/>
                <a:cs typeface="IBM Plex Sans" pitchFamily="34" charset="-120"/>
              </a:rPr>
              <a:t> only the last ~5 days help; temperature is stationary.</a:t>
            </a:r>
            <a:endParaRPr lang="en-US" sz="1300" dirty="0"/>
          </a:p>
        </p:txBody>
      </p:sp>
      <p:sp>
        <p:nvSpPr>
          <p:cNvPr id="7" name="Text 5"/>
          <p:cNvSpPr/>
          <p:nvPr/>
        </p:nvSpPr>
        <p:spPr>
          <a:xfrm>
            <a:off x="812800" y="2872742"/>
            <a:ext cx="593967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EEE3"/>
                </a:solidFill>
                <a:latin typeface="IBM Plex Sans" pitchFamily="34" charset="0"/>
                <a:ea typeface="IBM Plex Sans" pitchFamily="34" charset="-122"/>
                <a:cs typeface="IBM Plex Sans" pitchFamily="34" charset="-120"/>
              </a:rPr>
              <a:t>Rain is rare:</a:t>
            </a:r>
            <a:r>
              <a:rPr lang="en-US" sz="1300" dirty="0">
                <a:solidFill>
                  <a:srgbClr val="BFCBD8"/>
                </a:solidFill>
                <a:latin typeface="IBM Plex Sans" pitchFamily="34" charset="0"/>
                <a:ea typeface="IBM Plex Sans" pitchFamily="34" charset="-122"/>
                <a:cs typeface="IBM Plex Sans" pitchFamily="34" charset="-120"/>
              </a:rPr>
              <a:t> 2.9 % of days, October to April, in groups.</a:t>
            </a:r>
            <a:endParaRPr lang="en-US" sz="1300" dirty="0"/>
          </a:p>
        </p:txBody>
      </p:sp>
      <p:sp>
        <p:nvSpPr>
          <p:cNvPr id="8" name="Text 6"/>
          <p:cNvSpPr/>
          <p:nvPr/>
        </p:nvSpPr>
        <p:spPr>
          <a:xfrm>
            <a:off x="812800" y="3218179"/>
            <a:ext cx="593967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EEE3"/>
                </a:solidFill>
                <a:latin typeface="IBM Plex Sans" pitchFamily="34" charset="0"/>
                <a:ea typeface="IBM Plex Sans" pitchFamily="34" charset="-122"/>
                <a:cs typeface="IBM Plex Sans" pitchFamily="34" charset="-120"/>
              </a:rPr>
              <a:t>The 2016 rain jump</a:t>
            </a:r>
            <a:r>
              <a:rPr lang="en-US" sz="1300" dirty="0">
                <a:solidFill>
                  <a:srgbClr val="BFCBD8"/>
                </a:solidFill>
                <a:latin typeface="IBM Plex Sans" pitchFamily="34" charset="0"/>
                <a:ea typeface="IBM Plex Sans" pitchFamily="34" charset="-122"/>
                <a:cs typeface="IBM Plex Sans" pitchFamily="34" charset="-120"/>
              </a:rPr>
              <a:t> is most likely a data change.</a:t>
            </a:r>
            <a:endParaRPr lang="en-US" sz="1300" dirty="0"/>
          </a:p>
        </p:txBody>
      </p:sp>
      <p:sp>
        <p:nvSpPr>
          <p:cNvPr id="9" name="Text 7"/>
          <p:cNvSpPr/>
          <p:nvPr/>
        </p:nvSpPr>
        <p:spPr>
          <a:xfrm>
            <a:off x="812800" y="3563621"/>
            <a:ext cx="593967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EEE3"/>
                </a:solidFill>
                <a:latin typeface="IBM Plex Sans" pitchFamily="34" charset="0"/>
                <a:ea typeface="IBM Plex Sans" pitchFamily="34" charset="-122"/>
                <a:cs typeface="IBM Plex Sans" pitchFamily="34" charset="-120"/>
              </a:rPr>
              <a:t>To beat:</a:t>
            </a:r>
            <a:r>
              <a:rPr lang="en-US" sz="1300" dirty="0">
                <a:solidFill>
                  <a:srgbClr val="BFCBD8"/>
                </a:solidFill>
                <a:latin typeface="IBM Plex Sans" pitchFamily="34" charset="0"/>
                <a:ea typeface="IBM Plex Sans" pitchFamily="34" charset="-122"/>
                <a:cs typeface="IBM Plex Sans" pitchFamily="34" charset="-120"/>
              </a:rPr>
              <a:t> 1.05 °C MAE, and rain persistence (F1 0.47 on test).</a:t>
            </a:r>
            <a:endParaRPr lang="en-US" sz="1300" dirty="0"/>
          </a:p>
        </p:txBody>
      </p:sp>
      <p:sp>
        <p:nvSpPr>
          <p:cNvPr id="10" name="Shape 8"/>
          <p:cNvSpPr/>
          <p:nvPr/>
        </p:nvSpPr>
        <p:spPr>
          <a:xfrm>
            <a:off x="6839824" y="1860550"/>
            <a:ext cx="4533027" cy="2075180"/>
          </a:xfrm>
          <a:prstGeom prst="roundRect">
            <a:avLst>
              <a:gd name="adj" fmla="val 3366"/>
            </a:avLst>
          </a:prstGeom>
          <a:noFill/>
          <a:ln w="12700">
            <a:solidFill>
              <a:srgbClr val="34506E"/>
            </a:solidFill>
            <a:prstDash val="solid"/>
          </a:ln>
        </p:spPr>
      </p:sp>
      <p:sp>
        <p:nvSpPr>
          <p:cNvPr id="11" name="Text 9"/>
          <p:cNvSpPr/>
          <p:nvPr/>
        </p:nvSpPr>
        <p:spPr>
          <a:xfrm>
            <a:off x="7046833" y="2042164"/>
            <a:ext cx="424257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DB8F2"/>
                </a:solidFill>
                <a:latin typeface="IBM Plex Sans" pitchFamily="34" charset="0"/>
                <a:ea typeface="IBM Plex Sans" pitchFamily="34" charset="-122"/>
                <a:cs typeface="IBM Plex Sans" pitchFamily="34" charset="-120"/>
              </a:rPr>
              <a:t>LIMITATIONS</a:t>
            </a:r>
            <a:endParaRPr lang="en-US" sz="1200" dirty="0"/>
          </a:p>
        </p:txBody>
      </p:sp>
      <p:sp>
        <p:nvSpPr>
          <p:cNvPr id="12" name="Text 10"/>
          <p:cNvSpPr/>
          <p:nvPr/>
        </p:nvSpPr>
        <p:spPr>
          <a:xfrm>
            <a:off x="7046833" y="2369821"/>
            <a:ext cx="4242577"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EEE3"/>
                </a:solidFill>
                <a:latin typeface="IBM Plex Sans" pitchFamily="34" charset="0"/>
                <a:ea typeface="IBM Plex Sans" pitchFamily="34" charset="-122"/>
                <a:cs typeface="IBM Plex Sans" pitchFamily="34" charset="-120"/>
              </a:rPr>
              <a:t>Model grid, not a station:</a:t>
            </a:r>
            <a:r>
              <a:rPr lang="en-US" sz="1300" dirty="0">
                <a:solidFill>
                  <a:srgbClr val="BFCBD8"/>
                </a:solidFill>
                <a:latin typeface="IBM Plex Sans" pitchFamily="34" charset="0"/>
                <a:ea typeface="IBM Plex Sans" pitchFamily="34" charset="-122"/>
                <a:cs typeface="IBM Plex Sans" pitchFamily="34" charset="-120"/>
              </a:rPr>
              <a:t> ~50 × 50 km averages, so extremes look milder.</a:t>
            </a:r>
            <a:endParaRPr lang="en-US" sz="1300" dirty="0"/>
          </a:p>
        </p:txBody>
      </p:sp>
      <p:sp>
        <p:nvSpPr>
          <p:cNvPr id="13" name="Text 11"/>
          <p:cNvSpPr/>
          <p:nvPr/>
        </p:nvSpPr>
        <p:spPr>
          <a:xfrm>
            <a:off x="7046833" y="2946400"/>
            <a:ext cx="4242577"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EEE3"/>
                </a:solidFill>
                <a:latin typeface="IBM Plex Sans" pitchFamily="34" charset="0"/>
                <a:ea typeface="IBM Plex Sans" pitchFamily="34" charset="-122"/>
                <a:cs typeface="IBM Plex Sans" pitchFamily="34" charset="-120"/>
              </a:rPr>
              <a:t>Rain:</a:t>
            </a:r>
            <a:r>
              <a:rPr lang="en-US" sz="1300" dirty="0">
                <a:solidFill>
                  <a:srgbClr val="BFCBD8"/>
                </a:solidFill>
                <a:latin typeface="IBM Plex Sans" pitchFamily="34" charset="0"/>
                <a:ea typeface="IBM Plex Sans" pitchFamily="34" charset="-122"/>
                <a:cs typeface="IBM Plex Sans" pitchFamily="34" charset="-120"/>
              </a:rPr>
              <a:t> only 2016–2025 is usable, and the test has just 43 rain days.</a:t>
            </a:r>
            <a:endParaRPr lang="en-US" sz="1300" dirty="0"/>
          </a:p>
        </p:txBody>
      </p:sp>
      <p:sp>
        <p:nvSpPr>
          <p:cNvPr id="14" name="Text 12"/>
          <p:cNvSpPr/>
          <p:nvPr/>
        </p:nvSpPr>
        <p:spPr>
          <a:xfrm>
            <a:off x="7046833" y="3522979"/>
            <a:ext cx="424257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EEE3"/>
                </a:solidFill>
                <a:latin typeface="IBM Plex Sans" pitchFamily="34" charset="0"/>
                <a:ea typeface="IBM Plex Sans" pitchFamily="34" charset="-122"/>
                <a:cs typeface="IBM Plex Sans" pitchFamily="34" charset="-120"/>
              </a:rPr>
              <a:t>Wind direction:</a:t>
            </a:r>
            <a:r>
              <a:rPr lang="en-US" sz="1300" dirty="0">
                <a:solidFill>
                  <a:srgbClr val="BFCBD8"/>
                </a:solidFill>
                <a:latin typeface="IBM Plex Sans" pitchFamily="34" charset="0"/>
                <a:ea typeface="IBM Plex Sans" pitchFamily="34" charset="-122"/>
                <a:cs typeface="IBM Plex Sans" pitchFamily="34" charset="-120"/>
              </a:rPr>
              <a:t> valid for 1990–2012 only.</a:t>
            </a:r>
            <a:endParaRPr lang="en-US" sz="1300" dirty="0"/>
          </a:p>
        </p:txBody>
      </p:sp>
      <p:sp>
        <p:nvSpPr>
          <p:cNvPr id="15" name="Text 13"/>
          <p:cNvSpPr/>
          <p:nvPr/>
        </p:nvSpPr>
        <p:spPr>
          <a:xfrm>
            <a:off x="812800" y="5506721"/>
            <a:ext cx="10883392"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EEE3"/>
                </a:solidFill>
                <a:latin typeface="Source Serif 4" pitchFamily="18" charset="0"/>
                <a:ea typeface="Source Serif 4" pitchFamily="18" charset="-122"/>
                <a:cs typeface="Source Serif 4" pitchFamily="18" charset="-120"/>
              </a:rPr>
              <a:t>Thank you. Questions?</a:t>
            </a:r>
            <a:endParaRPr lang="en-US" sz="2200" dirty="0"/>
          </a:p>
        </p:txBody>
      </p:sp>
      <p:sp>
        <p:nvSpPr>
          <p:cNvPr id="16" name="Text 14"/>
          <p:cNvSpPr/>
          <p:nvPr/>
        </p:nvSpPr>
        <p:spPr>
          <a:xfrm>
            <a:off x="812800" y="6238242"/>
            <a:ext cx="27037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BD8"/>
                </a:solidFill>
                <a:latin typeface="IBM Plex Sans" pitchFamily="34" charset="0"/>
                <a:ea typeface="IBM Plex Sans" pitchFamily="34" charset="-122"/>
                <a:cs typeface="IBM Plex Sans" pitchFamily="34" charset="-120"/>
              </a:rPr>
              <a:t>Cairo weather forecasting · Esraa</a:t>
            </a:r>
            <a:endParaRPr lang="en-US" sz="1200" dirty="0"/>
          </a:p>
        </p:txBody>
      </p:sp>
      <p:sp>
        <p:nvSpPr>
          <p:cNvPr id="17" name="Text 15"/>
          <p:cNvSpPr/>
          <p:nvPr/>
        </p:nvSpPr>
        <p:spPr>
          <a:xfrm>
            <a:off x="7753033" y="6238242"/>
            <a:ext cx="362616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CBD8"/>
                </a:solidFill>
                <a:latin typeface="IBM Plex Sans" pitchFamily="34" charset="0"/>
                <a:ea typeface="IBM Plex Sans" pitchFamily="34" charset="-122"/>
                <a:cs typeface="IBM Plex Sans" pitchFamily="34" charset="-120"/>
              </a:rPr>
              <a:t>Source: NASA POWER, 1990–2025 · 15 / 15</a:t>
            </a:r>
            <a:endParaRPr lang="en-US" sz="1200" dirty="0"/>
          </a:p>
        </p:txBody>
      </p:sp>
    </p:spTree>
  </p:cSld>
  <p:clrMapOvr>
    <a:masterClrMapping/>
  </p:clrMapOvr>
</p:sld>
</file>

<file path=ppt/theme/theme1.xml><?xml version="1.0" encoding="utf-8"?>
<a:theme xmlns:a="http://schemas.openxmlformats.org/drawingml/2006/main" name="Cairo Weather: Can We Forecast Tomorrow?">
  <a:themeElements>
    <a:clrScheme name="Cairo Weather: Can We Forecast Tomorrow?">
      <a:dk1>
        <a:srgbClr val="1B2733"/>
      </a:dk1>
      <a:lt1>
        <a:srgbClr val="F4EEE3"/>
      </a:lt1>
      <a:dk2>
        <a:srgbClr val="51595F"/>
      </a:dk2>
      <a:lt2>
        <a:srgbClr val="DEDAD1"/>
      </a:lt2>
      <a:accent1>
        <a:srgbClr val="C4501F"/>
      </a:accent1>
      <a:accent2>
        <a:srgbClr val="F2945E"/>
      </a:accent2>
      <a:accent3>
        <a:srgbClr val="2563B0"/>
      </a:accent3>
      <a:accent4>
        <a:srgbClr val="1E3550"/>
      </a:accent4>
      <a:accent5>
        <a:srgbClr val="A9C1E3"/>
      </a:accent5>
      <a:accent6>
        <a:srgbClr val="8DB8F2"/>
      </a:accent6>
      <a:hlink>
        <a:srgbClr val="0563C1"/>
      </a:hlink>
      <a:folHlink>
        <a:srgbClr val="954F72"/>
      </a:folHlink>
    </a:clrScheme>
    <a:fontScheme name="Cairo Weather: Can We Forecast Tomorrow?">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Cairo Weather: Can We Forecast Tomorrow?</dc:title>
  <dc:subject/>
  <dc:creator/>
  <cp:lastModifiedBy/>
  <cp:revision>1</cp:revision>
  <dcterms:created xsi:type="dcterms:W3CDTF">2026-10-14T23:40:18Z</dcterms:created>
  <dcterms:modified xsi:type="dcterms:W3CDTF">2026-10-14T23:40:18Z</dcterms:modified>
</cp:coreProperties>
</file>